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3ef00d734b468a" /><Relationship Type="http://schemas.openxmlformats.org/officeDocument/2006/relationships/extended-properties" Target="/docProps/app.xml" Id="R58864d9703ca4ba6" /><Relationship Type="http://schemas.openxmlformats.org/officeDocument/2006/relationships/officeDocument" Target="/ppt/presentation.xml" Id="R72cc0eca3d0c4fd0" /></Relationships>
</file>

<file path=ppt/presentation.xml><?xml version="1.0" encoding="utf-8"?>
<p:presentation xmlns:p="http://schemas.openxmlformats.org/presentationml/2006/main">
  <p:sldMasterIdLst>
    <p:sldMasterId xmlns:r="http://schemas.openxmlformats.org/officeDocument/2006/relationships" id="2147483648" r:id="Rc2bb06b1347146f2"/>
  </p:sldMasterIdLst>
  <p:notesMasterIdLst>
    <p:notesMasterId xmlns:r="http://schemas.openxmlformats.org/officeDocument/2006/relationships" r:id="R736ed25e83234de1"/>
  </p:notesMasterIdLst>
  <p:sldIdLst>
    <p:sldId xmlns:r="http://schemas.openxmlformats.org/officeDocument/2006/relationships" id="256" r:id="R7542ed07d1784116"/>
    <p:sldId xmlns:r="http://schemas.openxmlformats.org/officeDocument/2006/relationships" id="257" r:id="R78478db9814d47e6"/>
    <p:sldId xmlns:r="http://schemas.openxmlformats.org/officeDocument/2006/relationships" id="258" r:id="R561c60d99ca64c39"/>
    <p:sldId xmlns:r="http://schemas.openxmlformats.org/officeDocument/2006/relationships" id="259" r:id="R80335c69b0a44459"/>
    <p:sldId xmlns:r="http://schemas.openxmlformats.org/officeDocument/2006/relationships" id="260" r:id="Raee84787cf354c12"/>
    <p:sldId xmlns:r="http://schemas.openxmlformats.org/officeDocument/2006/relationships" id="261" r:id="Rb29a130cbe9442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e1e75320b243eb" /><Relationship Type="http://schemas.openxmlformats.org/officeDocument/2006/relationships/slideMaster" Target="/ppt/slideMasters/slideMaster1.xml" Id="Rc2bb06b1347146f2" /><Relationship Type="http://schemas.openxmlformats.org/officeDocument/2006/relationships/notesMaster" Target="/ppt/notesMasters/notesMaster1.xml" Id="R736ed25e83234de1" /><Relationship Type="http://schemas.openxmlformats.org/officeDocument/2006/relationships/presProps" Target="/ppt/presProps.xml" Id="Rdd897b4eaaeb4a27" /><Relationship Type="http://schemas.openxmlformats.org/officeDocument/2006/relationships/tableStyles" Target="/ppt/tableStyles.xml" Id="R50b5e5e93d234eae" /><Relationship Type="http://schemas.openxmlformats.org/officeDocument/2006/relationships/slide" Target="/ppt/slides/slide1.xml" Id="R7542ed07d1784116" /><Relationship Type="http://schemas.openxmlformats.org/officeDocument/2006/relationships/slide" Target="/ppt/slides/slide2.xml" Id="R78478db9814d47e6" /><Relationship Type="http://schemas.openxmlformats.org/officeDocument/2006/relationships/slide" Target="/ppt/slides/slide3.xml" Id="R561c60d99ca64c39" /><Relationship Type="http://schemas.openxmlformats.org/officeDocument/2006/relationships/slide" Target="/ppt/slides/slide4.xml" Id="R80335c69b0a44459" /><Relationship Type="http://schemas.openxmlformats.org/officeDocument/2006/relationships/slide" Target="/ppt/slides/slide5.xml" Id="Raee84787cf354c12" /><Relationship Type="http://schemas.openxmlformats.org/officeDocument/2006/relationships/slide" Target="/ppt/slides/slide6.xml" Id="Rb29a130cbe9442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dfb6e843bf48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374374cb3b43c2" /><Relationship Type="http://schemas.openxmlformats.org/officeDocument/2006/relationships/notesMaster" Target="/ppt/notesMasters/notesMaster1.xml" Id="R44aa41195c844c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1f3a3e418a4451" /><Relationship Type="http://schemas.openxmlformats.org/officeDocument/2006/relationships/notesMaster" Target="/ppt/notesMasters/notesMaster1.xml" Id="R79d2b2910fad4e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e9238726734d85" /><Relationship Type="http://schemas.openxmlformats.org/officeDocument/2006/relationships/notesMaster" Target="/ppt/notesMasters/notesMaster1.xml" Id="R030485804fee40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a2a58332784919" /><Relationship Type="http://schemas.openxmlformats.org/officeDocument/2006/relationships/notesMaster" Target="/ppt/notesMasters/notesMaster1.xml" Id="R4012e4bc49084d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c8e5c80a8546d0" /><Relationship Type="http://schemas.openxmlformats.org/officeDocument/2006/relationships/notesMaster" Target="/ppt/notesMasters/notesMaster1.xml" Id="R2e68b29c0cb049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2206ee3c404f85" /><Relationship Type="http://schemas.openxmlformats.org/officeDocument/2006/relationships/notesMaster" Target="/ppt/notesMasters/notesMaster1.xml" Id="Rf4eb0a2f1d4f46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proposes where baseline capture belongs in the product. The backend now has a planning-run request, immutable SQLite baseline snapshot, and a shared versioned evaluator. The current React app does not yet have role-specific schedule pages; the screens that follow are product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Steps 1–3 are represented by the current backend contract and service. Step 4 indicates the future use of the same dataset and evaluator; generating alternative schedules and before/after comparisons are outside this ticket.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supervisor page, not a screenshot of an implemented screen. The current frontend has the Safety &amp; Scheduling tab but no schedule table or role-based access. The values shown are illustrative examples, not product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employee schedule concept. Employee-facing baseline access is not required for baseline capture. The employee sees current assigned work, scheduled breaks, equipment/location details and any published schedule changes. Times and names are illustrative.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supervisor owns planning and baseline review. The employee page consumes the active schedule. Both sit over the same planning run record. The current implementation persists baseline data in SQLite and exposes create/retrieve API endpoints; the role pages are proposed UI 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Pydantic schemas for planning dataset and baseline snapshot; shared evaluator with a metric definition version; SQLite write-once persistence; POST and GET baseline endpoints. Proposed: schedule screens and employee/supervisor role experience. No alternative schedule generation, before/after improvement calculation, or manager recommendations are included in this ticket.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a650a119cb47f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5371a8be28c4ab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b440306059f496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7a82de7bdc3427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4bcda8c52ff441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a0d21908fef4c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119723-C5DD-4809-987A-32834482E82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5C17EC3-BFDA-4558-8B16-7626C9F3AB1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B427321-D81E-4F0A-BA79-B4CC78C8072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115733-FCAC-46C8-BBF3-4E5C2BAF390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BF25C19-4F32-4B74-A0B9-41B404733DA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8DC285-EFD8-4D05-A093-4D35DCFB24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2B4151-D8C9-4A09-A17A-D0DAB73DC4E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DADACF7-6398-44D8-9231-6444367BD5A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D5C676-F1C3-48CE-B40D-56F5409B29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034225-8A47-483A-881F-5B3FA88B05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0e21813530424d" /><Relationship Type="http://schemas.openxmlformats.org/officeDocument/2006/relationships/slideLayout" Target="/ppt/slideLayouts/slideLayout1.xml" Id="Rcdbe7e5a71a24e27" /><Relationship Type="http://schemas.openxmlformats.org/officeDocument/2006/relationships/slideLayout" Target="/ppt/slideLayouts/slideLayout2.xml" Id="R054ead174b2f4ec4" /><Relationship Type="http://schemas.openxmlformats.org/officeDocument/2006/relationships/slideLayout" Target="/ppt/slideLayouts/slideLayout3.xml" Id="R01a434b2471f415d" /><Relationship Type="http://schemas.openxmlformats.org/officeDocument/2006/relationships/slideLayout" Target="/ppt/slideLayouts/slideLayout4.xml" Id="R6d4f2bdbdec54356" /><Relationship Type="http://schemas.openxmlformats.org/officeDocument/2006/relationships/slideLayout" Target="/ppt/slideLayouts/slideLayout5.xml" Id="R6a06e585ec604847" /><Relationship Type="http://schemas.openxmlformats.org/officeDocument/2006/relationships/slideLayout" Target="/ppt/slideLayouts/slideLayout6.xml" Id="R893ce38c32d248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be7e5a71a24e27"/>
    <p:sldLayoutId xmlns:r="http://schemas.openxmlformats.org/officeDocument/2006/relationships" id="2147483650" r:id="R054ead174b2f4ec4"/>
    <p:sldLayoutId xmlns:r="http://schemas.openxmlformats.org/officeDocument/2006/relationships" id="2147483651" r:id="R01a434b2471f415d"/>
    <p:sldLayoutId xmlns:r="http://schemas.openxmlformats.org/officeDocument/2006/relationships" id="2147483652" r:id="R6d4f2bdbdec54356"/>
    <p:sldLayoutId xmlns:r="http://schemas.openxmlformats.org/officeDocument/2006/relationships" id="2147483653" r:id="R6a06e585ec604847"/>
    <p:sldLayoutId xmlns:r="http://schemas.openxmlformats.org/officeDocument/2006/relationships" id="2147483654" r:id="R893ce38c32d248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352ed845e7844c9" /><Relationship Type="http://schemas.openxmlformats.org/officeDocument/2006/relationships/notesSlide" Target="/ppt/notesSlides/notesSlide1.xml" Id="R6f86e061de0142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15ef1b960049dd" /><Relationship Type="http://schemas.openxmlformats.org/officeDocument/2006/relationships/notesSlide" Target="/ppt/notesSlides/notesSlide2.xml" Id="R5ff075db7ac24c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d8d298f76654cfb" /><Relationship Type="http://schemas.openxmlformats.org/officeDocument/2006/relationships/notesSlide" Target="/ppt/notesSlides/notesSlide3.xml" Id="R62a01e652dd44f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c47f4463a2c45aa" /><Relationship Type="http://schemas.openxmlformats.org/officeDocument/2006/relationships/notesSlide" Target="/ppt/notesSlides/notesSlide4.xml" Id="Rcecac89cca114b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3f031b16cba485c" /><Relationship Type="http://schemas.openxmlformats.org/officeDocument/2006/relationships/notesSlide" Target="/ppt/notesSlides/notesSlide5.xml" Id="Ra92fd2fdce5242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95e5dae74014815" /><Relationship Type="http://schemas.openxmlformats.org/officeDocument/2006/relationships/notesSlide" Target="/ppt/notesSlides/notesSlide6.xml" Id="R6fdfda4bd06c4e8d" /></Relationships>
</file>

<file path=ppt/slides/slide1.xml><?xml version="1.0" encoding="utf-8"?>
<p:sld xmlns:p="http://schemas.openxmlformats.org/presentationml/2006/main">
  <p:cSld>
    <p:bg>
      <p:bgPr>
        <a:solidFill xmlns:a="http://schemas.openxmlformats.org/drawingml/2006/main">
          <a:srgbClr val="17342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C195F77-07E1-41C5-8E78-01CFE1B56F5C}"/>
              </a:ext>
            </a:extLst>
          </p:cNvPr>
          <p:cNvSpPr>
            <a:spLocks xmlns:a="http://schemas.openxmlformats.org/drawingml/2006/main" noGrp="1"/>
          </p:cNvSpPr>
          <p:nvPr/>
        </p:nvSpPr>
        <p:spPr>
          <a:xfrm xmlns:a="http://schemas.openxmlformats.org/drawingml/2006/main">
            <a:off x="7848600" y="0"/>
            <a:ext cx="4343400" cy="6858000"/>
          </a:xfrm>
          <a:prstGeom xmlns:a="http://schemas.openxmlformats.org/drawingml/2006/main" prst="rect">
            <a:avLst/>
          </a:prstGeom>
          <a:solidFill xmlns:a="http://schemas.openxmlformats.org/drawingml/2006/main">
            <a:srgbClr val="2148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6A4CDAE-4181-47D4-B880-35861141C679}"/>
              </a:ext>
            </a:extLst>
          </p:cNvPr>
          <p:cNvSpPr>
            <a:spLocks xmlns:a="http://schemas.openxmlformats.org/drawingml/2006/main" noGrp="1"/>
          </p:cNvSpPr>
          <p:nvPr/>
        </p:nvSpPr>
        <p:spPr>
          <a:xfrm xmlns:a="http://schemas.openxmlformats.org/drawingml/2006/main">
            <a:off x="8439150" y="990600"/>
            <a:ext cx="2762250" cy="38100"/>
          </a:xfrm>
          <a:prstGeom xmlns:a="http://schemas.openxmlformats.org/drawingml/2006/main" prst="rect">
            <a:avLst/>
          </a:prstGeom>
          <a:solidFill xmlns:a="http://schemas.openxmlformats.org/drawingml/2006/main">
            <a:srgbClr val="D9E8B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8AE832E-C514-4ADC-8269-A326C6C72CE8}"/>
              </a:ext>
            </a:extLst>
          </p:cNvPr>
          <p:cNvSpPr>
            <a:spLocks xmlns:a="http://schemas.openxmlformats.org/drawingml/2006/main" noGrp="1"/>
          </p:cNvSpPr>
          <p:nvPr/>
        </p:nvSpPr>
        <p:spPr>
          <a:xfrm xmlns:a="http://schemas.openxmlformats.org/drawingml/2006/main">
            <a:off x="742950" y="64770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D9E8B7"/>
                </a:solidFill>
                <a:latin typeface="Arial"/>
                <a:ea typeface="Arial"/>
                <a:cs typeface="Arial"/>
              </a:defRPr>
            </a:defPPr>
          </a:lstStyle>
          <a:p xmlns:a="http://schemas.openxmlformats.org/drawingml/2006/main">
            <a:pPr algn="l">
              <a:defRPr sz="1125" b="1">
                <a:solidFill>
                  <a:srgbClr val="D9E8B7"/>
                </a:solidFill>
                <a:latin typeface="Arial"/>
                <a:ea typeface="Arial"/>
                <a:cs typeface="Arial"/>
              </a:defRPr>
            </a:pPr>
            <a:r>
              <a:rPr sz="1125" b="1">
                <a:solidFill>
                  <a:srgbClr val="D9E8B7"/>
                </a:solidFill>
                <a:latin typeface="Arial"/>
                <a:ea typeface="Arial"/>
                <a:cs typeface="Arial"/>
              </a:rPr>
              <a:t>PRODUCT FLOW • SCHEDULES</a:t>
            </a:r>
          </a:p>
        </p:txBody>
      </p:sp>
      <p:sp>
        <p:nvSpPr>
          <p:cNvPr id="4" name="">
            <a:extLst xmlns:a="http://schemas.openxmlformats.org/drawingml/2006/main">
              <a:ext uri="{FF2B5EF4-FFF2-40B4-BE49-F238E27FC236}">
                <a16:creationId xmlns:a16="http://schemas.microsoft.com/office/drawing/2014/main" id="{1E85AD97-3F53-46E9-8612-372B48B9FC82}"/>
              </a:ext>
            </a:extLst>
          </p:cNvPr>
          <p:cNvSpPr>
            <a:spLocks xmlns:a="http://schemas.openxmlformats.org/drawingml/2006/main" noGrp="1"/>
          </p:cNvSpPr>
          <p:nvPr/>
        </p:nvSpPr>
        <p:spPr>
          <a:xfrm xmlns:a="http://schemas.openxmlformats.org/drawingml/2006/main">
            <a:off x="742950" y="1314450"/>
            <a:ext cx="7143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350" b="1">
                <a:solidFill>
                  <a:srgbClr val="FFFFFF"/>
                </a:solidFill>
                <a:latin typeface="Arial"/>
                <a:ea typeface="Arial"/>
                <a:cs typeface="Arial"/>
              </a:defRPr>
            </a:defPPr>
          </a:lstStyle>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The baseline</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schedule in action</a:t>
            </a:r>
          </a:p>
        </p:txBody>
      </p:sp>
      <p:sp>
        <p:nvSpPr>
          <p:cNvPr id="5" name="">
            <a:extLst xmlns:a="http://schemas.openxmlformats.org/drawingml/2006/main">
              <a:ext uri="{FF2B5EF4-FFF2-40B4-BE49-F238E27FC236}">
                <a16:creationId xmlns:a16="http://schemas.microsoft.com/office/drawing/2014/main" id="{591691B9-17A8-48E5-92EC-0FDE9415F7D8}"/>
              </a:ext>
            </a:extLst>
          </p:cNvPr>
          <p:cNvSpPr>
            <a:spLocks xmlns:a="http://schemas.openxmlformats.org/drawingml/2006/main" noGrp="1"/>
          </p:cNvSpPr>
          <p:nvPr/>
        </p:nvSpPr>
        <p:spPr>
          <a:xfrm xmlns:a="http://schemas.openxmlformats.org/drawingml/2006/main">
            <a:off x="781050" y="3314700"/>
            <a:ext cx="62388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75" b="0">
                <a:solidFill>
                  <a:srgbClr val="E4EEE7"/>
                </a:solidFill>
                <a:latin typeface="Arial"/>
                <a:ea typeface="Arial"/>
                <a:cs typeface="Arial"/>
              </a:defRPr>
            </a:defPPr>
          </a:lstStyle>
          <a:p xmlns:a="http://schemas.openxmlformats.org/drawingml/2006/main">
            <a:pPr algn="l">
              <a:defRPr sz="1875" b="0">
                <a:solidFill>
                  <a:srgbClr val="E4EEE7"/>
                </a:solidFill>
                <a:latin typeface="Arial"/>
                <a:ea typeface="Arial"/>
                <a:cs typeface="Arial"/>
              </a:defRPr>
            </a:pPr>
            <a:r>
              <a:rPr sz="1875" b="0">
                <a:solidFill>
                  <a:srgbClr val="E4EEE7"/>
                </a:solidFill>
                <a:latin typeface="Arial"/>
                <a:ea typeface="Arial"/>
                <a:cs typeface="Arial"/>
              </a:rPr>
              <a:t>Where the original plan is captured, how a supervisor uses it, and what an employee sees.</a:t>
            </a:r>
          </a:p>
        </p:txBody>
      </p:sp>
      <p:sp>
        <p:nvSpPr>
          <p:cNvPr id="6" name="">
            <a:extLst xmlns:a="http://schemas.openxmlformats.org/drawingml/2006/main">
              <a:ext uri="{FF2B5EF4-FFF2-40B4-BE49-F238E27FC236}">
                <a16:creationId xmlns:a16="http://schemas.microsoft.com/office/drawing/2014/main" id="{AF99D4C6-492E-49BF-99B5-900997305E0E}"/>
              </a:ext>
            </a:extLst>
          </p:cNvPr>
          <p:cNvSpPr>
            <a:spLocks xmlns:a="http://schemas.openxmlformats.org/drawingml/2006/main" noGrp="1"/>
          </p:cNvSpPr>
          <p:nvPr/>
        </p:nvSpPr>
        <p:spPr>
          <a:xfrm xmlns:a="http://schemas.openxmlformats.org/drawingml/2006/main">
            <a:off x="8410575" y="137160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D9E8B7"/>
                </a:solidFill>
                <a:latin typeface="Arial"/>
                <a:ea typeface="Arial"/>
                <a:cs typeface="Arial"/>
              </a:defRPr>
            </a:defPPr>
          </a:lstStyle>
          <a:p xmlns:a="http://schemas.openxmlformats.org/drawingml/2006/main">
            <a:pPr algn="l">
              <a:defRPr sz="1050" b="1">
                <a:solidFill>
                  <a:srgbClr val="D9E8B7"/>
                </a:solidFill>
                <a:latin typeface="Arial"/>
                <a:ea typeface="Arial"/>
                <a:cs typeface="Arial"/>
              </a:defRPr>
            </a:pPr>
            <a:r>
              <a:rPr sz="1050" b="1">
                <a:solidFill>
                  <a:srgbClr val="D9E8B7"/>
                </a:solidFill>
                <a:latin typeface="Arial"/>
                <a:ea typeface="Arial"/>
                <a:cs typeface="Arial"/>
              </a:rPr>
              <a:t>PLANNING RUN</a:t>
            </a:r>
          </a:p>
        </p:txBody>
      </p:sp>
      <p:sp>
        <p:nvSpPr>
          <p:cNvPr id="7" name="">
            <a:extLst xmlns:a="http://schemas.openxmlformats.org/drawingml/2006/main">
              <a:ext uri="{FF2B5EF4-FFF2-40B4-BE49-F238E27FC236}">
                <a16:creationId xmlns:a16="http://schemas.microsoft.com/office/drawing/2014/main" id="{618B437D-138A-4CC9-8513-DEE76B6C1873}"/>
              </a:ext>
            </a:extLst>
          </p:cNvPr>
          <p:cNvSpPr>
            <a:spLocks xmlns:a="http://schemas.openxmlformats.org/drawingml/2006/main" noGrp="1"/>
          </p:cNvSpPr>
          <p:nvPr/>
        </p:nvSpPr>
        <p:spPr>
          <a:xfrm xmlns:a="http://schemas.openxmlformats.org/drawingml/2006/main">
            <a:off x="8410575" y="16954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FFFFFF"/>
                </a:solidFill>
                <a:latin typeface="Arial"/>
                <a:ea typeface="Arial"/>
                <a:cs typeface="Arial"/>
              </a:defRPr>
            </a:defPPr>
          </a:lstStyle>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Vadodara Plant  •  13 Oct</a:t>
            </a:r>
          </a:p>
        </p:txBody>
      </p:sp>
      <p:sp>
        <p:nvSpPr>
          <p:cNvPr id="8" name="">
            <a:extLst xmlns:a="http://schemas.openxmlformats.org/drawingml/2006/main">
              <a:ext uri="{FF2B5EF4-FFF2-40B4-BE49-F238E27FC236}">
                <a16:creationId xmlns:a16="http://schemas.microsoft.com/office/drawing/2014/main" id="{C6A455F2-B262-439B-A209-B8AE3635478E}"/>
              </a:ext>
            </a:extLst>
          </p:cNvPr>
          <p:cNvSpPr>
            <a:spLocks xmlns:a="http://schemas.openxmlformats.org/drawingml/2006/main" noGrp="1"/>
          </p:cNvSpPr>
          <p:nvPr/>
        </p:nvSpPr>
        <p:spPr>
          <a:xfrm xmlns:a="http://schemas.openxmlformats.org/drawingml/2006/main">
            <a:off x="8410575" y="2343150"/>
            <a:ext cx="2876550" cy="19050"/>
          </a:xfrm>
          <a:prstGeom xmlns:a="http://schemas.openxmlformats.org/drawingml/2006/main" prst="rect">
            <a:avLst/>
          </a:prstGeom>
          <a:solidFill xmlns:a="http://schemas.openxmlformats.org/drawingml/2006/main">
            <a:srgbClr val="80A39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62A04A7-DCF8-4E9A-A7F1-2FC790AD59D9}"/>
              </a:ext>
            </a:extLst>
          </p:cNvPr>
          <p:cNvSpPr>
            <a:spLocks xmlns:a="http://schemas.openxmlformats.org/drawingml/2006/main" noGrp="1"/>
          </p:cNvSpPr>
          <p:nvPr/>
        </p:nvSpPr>
        <p:spPr>
          <a:xfrm xmlns:a="http://schemas.openxmlformats.org/drawingml/2006/main">
            <a:off x="8410575" y="24288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C9D8D0"/>
                </a:solidFill>
                <a:latin typeface="Arial"/>
                <a:ea typeface="Arial"/>
                <a:cs typeface="Arial"/>
              </a:defRPr>
            </a:defPPr>
          </a:lstStyle>
          <a:p xmlns:a="http://schemas.openxmlformats.org/drawingml/2006/main">
            <a:pPr algn="l">
              <a:defRPr sz="975" b="0">
                <a:solidFill>
                  <a:srgbClr val="C9D8D0"/>
                </a:solidFill>
                <a:latin typeface="Arial"/>
                <a:ea typeface="Arial"/>
                <a:cs typeface="Arial"/>
              </a:defRPr>
            </a:pPr>
            <a:r>
              <a:rPr sz="975" b="0">
                <a:solidFill>
                  <a:srgbClr val="C9D8D0"/>
                </a:solidFill>
                <a:latin typeface="Arial"/>
                <a:ea typeface="Arial"/>
                <a:cs typeface="Arial"/>
              </a:rPr>
              <a:t>06:00</a:t>
            </a:r>
          </a:p>
        </p:txBody>
      </p:sp>
      <p:sp>
        <p:nvSpPr>
          <p:cNvPr id="10" name="">
            <a:extLst xmlns:a="http://schemas.openxmlformats.org/drawingml/2006/main">
              <a:ext uri="{FF2B5EF4-FFF2-40B4-BE49-F238E27FC236}">
                <a16:creationId xmlns:a16="http://schemas.microsoft.com/office/drawing/2014/main" id="{45705C12-2C65-4FC0-B1B2-16CEFD2B3CCC}"/>
              </a:ext>
            </a:extLst>
          </p:cNvPr>
          <p:cNvSpPr>
            <a:spLocks xmlns:a="http://schemas.openxmlformats.org/drawingml/2006/main" noGrp="1"/>
          </p:cNvSpPr>
          <p:nvPr/>
        </p:nvSpPr>
        <p:spPr>
          <a:xfrm xmlns:a="http://schemas.openxmlformats.org/drawingml/2006/main">
            <a:off x="9810750" y="24288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C9D8D0"/>
                </a:solidFill>
                <a:latin typeface="Arial"/>
                <a:ea typeface="Arial"/>
                <a:cs typeface="Arial"/>
              </a:defRPr>
            </a:defPPr>
          </a:lstStyle>
          <a:p xmlns:a="http://schemas.openxmlformats.org/drawingml/2006/main">
            <a:pPr algn="l">
              <a:defRPr sz="975" b="0">
                <a:solidFill>
                  <a:srgbClr val="C9D8D0"/>
                </a:solidFill>
                <a:latin typeface="Arial"/>
                <a:ea typeface="Arial"/>
                <a:cs typeface="Arial"/>
              </a:defRPr>
            </a:pPr>
            <a:r>
              <a:rPr sz="975" b="0">
                <a:solidFill>
                  <a:srgbClr val="C9D8D0"/>
                </a:solidFill>
                <a:latin typeface="Arial"/>
                <a:ea typeface="Arial"/>
                <a:cs typeface="Arial"/>
              </a:rPr>
              <a:t>10:00</a:t>
            </a:r>
          </a:p>
        </p:txBody>
      </p:sp>
      <p:sp>
        <p:nvSpPr>
          <p:cNvPr id="11" name="">
            <a:extLst xmlns:a="http://schemas.openxmlformats.org/drawingml/2006/main">
              <a:ext uri="{FF2B5EF4-FFF2-40B4-BE49-F238E27FC236}">
                <a16:creationId xmlns:a16="http://schemas.microsoft.com/office/drawing/2014/main" id="{360B4736-97D2-4D0C-916D-88F78C021196}"/>
              </a:ext>
            </a:extLst>
          </p:cNvPr>
          <p:cNvSpPr>
            <a:spLocks xmlns:a="http://schemas.openxmlformats.org/drawingml/2006/main" noGrp="1"/>
          </p:cNvSpPr>
          <p:nvPr/>
        </p:nvSpPr>
        <p:spPr>
          <a:xfrm xmlns:a="http://schemas.openxmlformats.org/drawingml/2006/main">
            <a:off x="10953750" y="24288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C9D8D0"/>
                </a:solidFill>
                <a:latin typeface="Arial"/>
                <a:ea typeface="Arial"/>
                <a:cs typeface="Arial"/>
              </a:defRPr>
            </a:defPPr>
          </a:lstStyle>
          <a:p xmlns:a="http://schemas.openxmlformats.org/drawingml/2006/main">
            <a:pPr algn="l">
              <a:defRPr sz="975" b="0">
                <a:solidFill>
                  <a:srgbClr val="C9D8D0"/>
                </a:solidFill>
                <a:latin typeface="Arial"/>
                <a:ea typeface="Arial"/>
                <a:cs typeface="Arial"/>
              </a:defRPr>
            </a:pPr>
            <a:r>
              <a:rPr sz="975" b="0">
                <a:solidFill>
                  <a:srgbClr val="C9D8D0"/>
                </a:solidFill>
                <a:latin typeface="Arial"/>
                <a:ea typeface="Arial"/>
                <a:cs typeface="Arial"/>
              </a:rPr>
              <a:t>14:00</a:t>
            </a:r>
          </a:p>
        </p:txBody>
      </p:sp>
      <p:sp>
        <p:nvSpPr>
          <p:cNvPr id="12" name="">
            <a:extLst xmlns:a="http://schemas.openxmlformats.org/drawingml/2006/main">
              <a:ext uri="{FF2B5EF4-FFF2-40B4-BE49-F238E27FC236}">
                <a16:creationId xmlns:a16="http://schemas.microsoft.com/office/drawing/2014/main" id="{1051A8FC-2C1F-4470-A414-9EF5CE731014}"/>
              </a:ext>
            </a:extLst>
          </p:cNvPr>
          <p:cNvSpPr>
            <a:spLocks xmlns:a="http://schemas.openxmlformats.org/drawingml/2006/main" noGrp="1"/>
          </p:cNvSpPr>
          <p:nvPr/>
        </p:nvSpPr>
        <p:spPr>
          <a:xfrm xmlns:a="http://schemas.openxmlformats.org/drawingml/2006/main">
            <a:off x="8582025" y="2895600"/>
            <a:ext cx="2105025" cy="438150"/>
          </a:xfrm>
          <a:prstGeom xmlns:a="http://schemas.openxmlformats.org/drawingml/2006/main" prst="roundRect">
            <a:avLst>
              <a:gd name="adj" fmla="val 17391"/>
            </a:avLst>
          </a:prstGeom>
          <a:solidFill xmlns:a="http://schemas.openxmlformats.org/drawingml/2006/main">
            <a:srgbClr val="D9E8B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51BD18C-BE9B-402E-AE54-2DE6CC328371}"/>
              </a:ext>
            </a:extLst>
          </p:cNvPr>
          <p:cNvSpPr>
            <a:spLocks xmlns:a="http://schemas.openxmlformats.org/drawingml/2006/main" noGrp="1"/>
          </p:cNvSpPr>
          <p:nvPr/>
        </p:nvSpPr>
        <p:spPr>
          <a:xfrm xmlns:a="http://schemas.openxmlformats.org/drawingml/2006/main">
            <a:off x="8705850" y="29527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7342C"/>
                </a:solidFill>
                <a:latin typeface="Arial"/>
                <a:ea typeface="Arial"/>
                <a:cs typeface="Arial"/>
              </a:defRPr>
            </a:defPPr>
          </a:lstStyle>
          <a:p xmlns:a="http://schemas.openxmlformats.org/drawingml/2006/main">
            <a:pPr algn="l">
              <a:defRPr sz="1200" b="1">
                <a:solidFill>
                  <a:srgbClr val="17342C"/>
                </a:solidFill>
                <a:latin typeface="Arial"/>
                <a:ea typeface="Arial"/>
                <a:cs typeface="Arial"/>
              </a:defRPr>
            </a:pPr>
            <a:r>
              <a:rPr sz="1200" b="1">
                <a:solidFill>
                  <a:srgbClr val="17342C"/>
                </a:solidFill>
                <a:latin typeface="Arial"/>
                <a:ea typeface="Arial"/>
                <a:cs typeface="Arial"/>
              </a:rPr>
              <a:t>WO-104  •  gasket repair</a:t>
            </a:r>
          </a:p>
        </p:txBody>
      </p:sp>
      <p:sp>
        <p:nvSpPr>
          <p:cNvPr id="14" name="">
            <a:extLst xmlns:a="http://schemas.openxmlformats.org/drawingml/2006/main">
              <a:ext uri="{FF2B5EF4-FFF2-40B4-BE49-F238E27FC236}">
                <a16:creationId xmlns:a16="http://schemas.microsoft.com/office/drawing/2014/main" id="{03B25148-E6DC-4172-8F7B-3F52E6A32057}"/>
              </a:ext>
            </a:extLst>
          </p:cNvPr>
          <p:cNvSpPr>
            <a:spLocks xmlns:a="http://schemas.openxmlformats.org/drawingml/2006/main" noGrp="1"/>
          </p:cNvSpPr>
          <p:nvPr/>
        </p:nvSpPr>
        <p:spPr>
          <a:xfrm xmlns:a="http://schemas.openxmlformats.org/drawingml/2006/main">
            <a:off x="8791575" y="3514725"/>
            <a:ext cx="1733550" cy="438150"/>
          </a:xfrm>
          <a:prstGeom xmlns:a="http://schemas.openxmlformats.org/drawingml/2006/main" prst="roundRect">
            <a:avLst>
              <a:gd name="adj" fmla="val 17391"/>
            </a:avLst>
          </a:prstGeom>
          <a:solidFill xmlns:a="http://schemas.openxmlformats.org/drawingml/2006/main">
            <a:srgbClr val="9ABBA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35088AA-F5CA-4AC0-928C-22BA2FB2C5F4}"/>
              </a:ext>
            </a:extLst>
          </p:cNvPr>
          <p:cNvSpPr>
            <a:spLocks xmlns:a="http://schemas.openxmlformats.org/drawingml/2006/main" noGrp="1"/>
          </p:cNvSpPr>
          <p:nvPr/>
        </p:nvSpPr>
        <p:spPr>
          <a:xfrm xmlns:a="http://schemas.openxmlformats.org/drawingml/2006/main">
            <a:off x="8915400" y="357187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7342C"/>
                </a:solidFill>
                <a:latin typeface="Arial"/>
                <a:ea typeface="Arial"/>
                <a:cs typeface="Arial"/>
              </a:defRPr>
            </a:defPPr>
          </a:lstStyle>
          <a:p xmlns:a="http://schemas.openxmlformats.org/drawingml/2006/main">
            <a:pPr algn="l">
              <a:defRPr sz="1200" b="1">
                <a:solidFill>
                  <a:srgbClr val="17342C"/>
                </a:solidFill>
                <a:latin typeface="Arial"/>
                <a:ea typeface="Arial"/>
                <a:cs typeface="Arial"/>
              </a:defRPr>
            </a:pPr>
            <a:r>
              <a:rPr sz="1200" b="1">
                <a:solidFill>
                  <a:srgbClr val="17342C"/>
                </a:solidFill>
                <a:latin typeface="Arial"/>
                <a:ea typeface="Arial"/>
                <a:cs typeface="Arial"/>
              </a:rPr>
              <a:t>WO-105  •  inspection</a:t>
            </a:r>
          </a:p>
        </p:txBody>
      </p:sp>
      <p:sp>
        <p:nvSpPr>
          <p:cNvPr id="16" name="">
            <a:extLst xmlns:a="http://schemas.openxmlformats.org/drawingml/2006/main">
              <a:ext uri="{FF2B5EF4-FFF2-40B4-BE49-F238E27FC236}">
                <a16:creationId xmlns:a16="http://schemas.microsoft.com/office/drawing/2014/main" id="{FCD93A21-5A2E-44D3-AB32-58251A9E3366}"/>
              </a:ext>
            </a:extLst>
          </p:cNvPr>
          <p:cNvSpPr>
            <a:spLocks xmlns:a="http://schemas.openxmlformats.org/drawingml/2006/main" noGrp="1"/>
          </p:cNvSpPr>
          <p:nvPr/>
        </p:nvSpPr>
        <p:spPr>
          <a:xfrm xmlns:a="http://schemas.openxmlformats.org/drawingml/2006/main">
            <a:off x="8410575" y="4514850"/>
            <a:ext cx="2990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FFFFFF"/>
                </a:solidFill>
                <a:latin typeface="Arial"/>
                <a:ea typeface="Arial"/>
                <a:cs typeface="Arial"/>
              </a:defRPr>
            </a:defPPr>
          </a:lstStyle>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Snapshot saved before any climate-aware changes</a:t>
            </a:r>
          </a:p>
        </p:txBody>
      </p:sp>
    </p:spTree>
    <p:extLst>
      <p:ext uri="{BB962C8B-B14F-4D97-AF65-F5344CB8AC3E}">
        <p14:creationId xmlns:p14="http://schemas.microsoft.com/office/powerpoint/2010/main" val="102248954"/>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0A6491A-6415-418D-9E24-E8DE7C4C584D}"/>
              </a:ext>
            </a:extLst>
          </p:cNvPr>
          <p:cNvSpPr>
            <a:spLocks xmlns:a="http://schemas.openxmlformats.org/drawingml/2006/main" noGrp="1"/>
          </p:cNvSpPr>
          <p:nvPr/>
        </p:nvSpPr>
        <p:spPr>
          <a:xfrm xmlns:a="http://schemas.openxmlformats.org/drawingml/2006/main">
            <a:off x="647700" y="3619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WORKFLOW</a:t>
            </a:r>
          </a:p>
        </p:txBody>
      </p:sp>
      <p:sp>
        <p:nvSpPr>
          <p:cNvPr id="2" name="">
            <a:extLst xmlns:a="http://schemas.openxmlformats.org/drawingml/2006/main">
              <a:ext uri="{FF2B5EF4-FFF2-40B4-BE49-F238E27FC236}">
                <a16:creationId xmlns:a16="http://schemas.microsoft.com/office/drawing/2014/main" id="{CEA28B8D-20DD-4B32-A257-DDACAD3566AD}"/>
              </a:ext>
            </a:extLst>
          </p:cNvPr>
          <p:cNvSpPr>
            <a:spLocks xmlns:a="http://schemas.openxmlformats.org/drawingml/2006/main" noGrp="1"/>
          </p:cNvSpPr>
          <p:nvPr/>
        </p:nvSpPr>
        <p:spPr>
          <a:xfrm xmlns:a="http://schemas.openxmlformats.org/drawingml/2006/main">
            <a:off x="647700" y="666750"/>
            <a:ext cx="10715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450" b="1">
                <a:solidFill>
                  <a:srgbClr val="15231F"/>
                </a:solidFill>
                <a:latin typeface="Arial"/>
                <a:ea typeface="Arial"/>
                <a:cs typeface="Arial"/>
              </a:defRPr>
            </a:defPPr>
          </a:lstStyle>
          <a:p xmlns:a="http://schemas.openxmlformats.org/drawingml/2006/main">
            <a:pPr algn="l">
              <a:defRPr sz="3450" b="1">
                <a:solidFill>
                  <a:srgbClr val="15231F"/>
                </a:solidFill>
                <a:latin typeface="Arial"/>
                <a:ea typeface="Arial"/>
                <a:cs typeface="Arial"/>
              </a:defRPr>
            </a:pPr>
            <a:r>
              <a:rPr sz="3450" b="1">
                <a:solidFill>
                  <a:srgbClr val="15231F"/>
                </a:solidFill>
                <a:latin typeface="Arial"/>
                <a:ea typeface="Arial"/>
                <a:cs typeface="Arial"/>
              </a:rPr>
              <a:t>A planning run starts with the source schedule</a:t>
            </a:r>
          </a:p>
        </p:txBody>
      </p:sp>
      <p:sp>
        <p:nvSpPr>
          <p:cNvPr id="3" name="">
            <a:extLst xmlns:a="http://schemas.openxmlformats.org/drawingml/2006/main">
              <a:ext uri="{FF2B5EF4-FFF2-40B4-BE49-F238E27FC236}">
                <a16:creationId xmlns:a16="http://schemas.microsoft.com/office/drawing/2014/main" id="{671C2706-38BE-49A1-836A-7CD902A95A9A}"/>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D369323-C51C-4ADA-882C-3A0393D5E150}"/>
              </a:ext>
            </a:extLst>
          </p:cNvPr>
          <p:cNvSpPr>
            <a:spLocks xmlns:a="http://schemas.openxmlformats.org/drawingml/2006/main" noGrp="1"/>
          </p:cNvSpPr>
          <p:nvPr/>
        </p:nvSpPr>
        <p:spPr>
          <a:xfrm xmlns:a="http://schemas.openxmlformats.org/drawingml/2006/main">
            <a:off x="647700" y="63341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CLIMATE-RESILIENT WORKFORCE PLANNING</a:t>
            </a:r>
          </a:p>
        </p:txBody>
      </p:sp>
      <p:sp>
        <p:nvSpPr>
          <p:cNvPr id="5" name="">
            <a:extLst xmlns:a="http://schemas.openxmlformats.org/drawingml/2006/main">
              <a:ext uri="{FF2B5EF4-FFF2-40B4-BE49-F238E27FC236}">
                <a16:creationId xmlns:a16="http://schemas.microsoft.com/office/drawing/2014/main" id="{8F66D343-CBBC-4803-9CC4-C57B50D33785}"/>
              </a:ext>
            </a:extLst>
          </p:cNvPr>
          <p:cNvSpPr>
            <a:spLocks xmlns:a="http://schemas.openxmlformats.org/drawingml/2006/main" noGrp="1"/>
          </p:cNvSpPr>
          <p:nvPr/>
        </p:nvSpPr>
        <p:spPr>
          <a:xfrm xmlns:a="http://schemas.openxmlformats.org/drawingml/2006/main">
            <a:off x="11096625" y="62865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86861"/>
                </a:solidFill>
                <a:latin typeface="Arial"/>
                <a:ea typeface="Arial"/>
                <a:cs typeface="Arial"/>
              </a:defRPr>
            </a:defPPr>
          </a:lstStyle>
          <a:p xmlns:a="http://schemas.openxmlformats.org/drawingml/2006/main">
            <a:pPr algn="r">
              <a:defRPr sz="1050" b="1">
                <a:solidFill>
                  <a:srgbClr val="586861"/>
                </a:solidFill>
                <a:latin typeface="Arial"/>
                <a:ea typeface="Arial"/>
                <a:cs typeface="Arial"/>
              </a:defRPr>
            </a:pPr>
            <a:r>
              <a:rPr sz="1050" b="1">
                <a:solidFill>
                  <a:srgbClr val="586861"/>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7748B889-8391-438E-8080-FC920C50F019}"/>
              </a:ext>
            </a:extLst>
          </p:cNvPr>
          <p:cNvSpPr>
            <a:spLocks xmlns:a="http://schemas.openxmlformats.org/drawingml/2006/main" noGrp="1"/>
          </p:cNvSpPr>
          <p:nvPr/>
        </p:nvSpPr>
        <p:spPr>
          <a:xfrm xmlns:a="http://schemas.openxmlformats.org/drawingml/2006/main">
            <a:off x="781050" y="1905000"/>
            <a:ext cx="2190750" cy="224790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D8E1DC"/>
            </a:solidFill>
            <a:prstDash val="solid"/>
          </a:ln>
        </p:spPr>
      </p:sp>
      <p:sp>
        <p:nvSpPr>
          <p:cNvPr id="7" name="">
            <a:extLst xmlns:a="http://schemas.openxmlformats.org/drawingml/2006/main">
              <a:ext uri="{FF2B5EF4-FFF2-40B4-BE49-F238E27FC236}">
                <a16:creationId xmlns:a16="http://schemas.microsoft.com/office/drawing/2014/main" id="{3F78A21A-371B-47DF-9B08-B5C7A991EED7}"/>
              </a:ext>
            </a:extLst>
          </p:cNvPr>
          <p:cNvSpPr>
            <a:spLocks xmlns:a="http://schemas.openxmlformats.org/drawingml/2006/main" noGrp="1"/>
          </p:cNvSpPr>
          <p:nvPr/>
        </p:nvSpPr>
        <p:spPr>
          <a:xfrm xmlns:a="http://schemas.openxmlformats.org/drawingml/2006/main">
            <a:off x="781050" y="1905000"/>
            <a:ext cx="2190750" cy="66675"/>
          </a:xfrm>
          <a:prstGeom xmlns:a="http://schemas.openxmlformats.org/drawingml/2006/main" prst="rect">
            <a:avLst/>
          </a:prstGeom>
          <a:solidFill xmlns:a="http://schemas.openxmlformats.org/drawingml/2006/main">
            <a:srgbClr val="176B5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5612AE8-2AAE-4131-B63D-C8AD71478BFB}"/>
              </a:ext>
            </a:extLst>
          </p:cNvPr>
          <p:cNvSpPr>
            <a:spLocks xmlns:a="http://schemas.openxmlformats.org/drawingml/2006/main" noGrp="1"/>
          </p:cNvSpPr>
          <p:nvPr/>
        </p:nvSpPr>
        <p:spPr>
          <a:xfrm xmlns:a="http://schemas.openxmlformats.org/drawingml/2006/main">
            <a:off x="971550" y="219075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5231F"/>
                </a:solidFill>
                <a:latin typeface="Arial"/>
                <a:ea typeface="Arial"/>
                <a:cs typeface="Arial"/>
              </a:defRPr>
            </a:defPPr>
          </a:lstStyle>
          <a:p xmlns:a="http://schemas.openxmlformats.org/drawingml/2006/main">
            <a:pPr algn="l">
              <a:defRPr sz="1650" b="1">
                <a:solidFill>
                  <a:srgbClr val="15231F"/>
                </a:solidFill>
                <a:latin typeface="Arial"/>
                <a:ea typeface="Arial"/>
                <a:cs typeface="Arial"/>
              </a:defRPr>
            </a:pPr>
            <a:r>
              <a:rPr sz="1650" b="1">
                <a:solidFill>
                  <a:srgbClr val="15231F"/>
                </a:solidFill>
                <a:latin typeface="Arial"/>
                <a:ea typeface="Arial"/>
                <a:cs typeface="Arial"/>
              </a:rPr>
              <a:t>1  Select inputs</a:t>
            </a:r>
          </a:p>
        </p:txBody>
      </p:sp>
      <p:sp>
        <p:nvSpPr>
          <p:cNvPr id="9" name="">
            <a:extLst xmlns:a="http://schemas.openxmlformats.org/drawingml/2006/main">
              <a:ext uri="{FF2B5EF4-FFF2-40B4-BE49-F238E27FC236}">
                <a16:creationId xmlns:a16="http://schemas.microsoft.com/office/drawing/2014/main" id="{21A6DB56-4D50-4C7E-AD47-12836D56E0DE}"/>
              </a:ext>
            </a:extLst>
          </p:cNvPr>
          <p:cNvSpPr>
            <a:spLocks xmlns:a="http://schemas.openxmlformats.org/drawingml/2006/main" noGrp="1"/>
          </p:cNvSpPr>
          <p:nvPr/>
        </p:nvSpPr>
        <p:spPr>
          <a:xfrm xmlns:a="http://schemas.openxmlformats.org/drawingml/2006/main">
            <a:off x="971550" y="2838450"/>
            <a:ext cx="1828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Work orders, workers,</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equipment and original</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assignments</a:t>
            </a:r>
          </a:p>
        </p:txBody>
      </p:sp>
      <p:sp>
        <p:nvSpPr>
          <p:cNvPr id="10" name="">
            <a:extLst xmlns:a="http://schemas.openxmlformats.org/drawingml/2006/main">
              <a:ext uri="{FF2B5EF4-FFF2-40B4-BE49-F238E27FC236}">
                <a16:creationId xmlns:a16="http://schemas.microsoft.com/office/drawing/2014/main" id="{5A19F02B-5DF3-430D-B49E-4AA9F4AECAF1}"/>
              </a:ext>
            </a:extLst>
          </p:cNvPr>
          <p:cNvSpPr>
            <a:spLocks xmlns:a="http://schemas.openxmlformats.org/drawingml/2006/main" noGrp="1"/>
          </p:cNvSpPr>
          <p:nvPr/>
        </p:nvSpPr>
        <p:spPr>
          <a:xfrm xmlns:a="http://schemas.openxmlformats.org/drawingml/2006/main">
            <a:off x="3067050" y="2952750"/>
            <a:ext cx="285750" cy="19050"/>
          </a:xfrm>
          <a:prstGeom xmlns:a="http://schemas.openxmlformats.org/drawingml/2006/main" prst="rect">
            <a:avLst/>
          </a:prstGeom>
          <a:solidFill xmlns:a="http://schemas.openxmlformats.org/drawingml/2006/main">
            <a:srgbClr val="176B5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A442579-A280-47F3-B310-6C8E1A2AE015}"/>
              </a:ext>
            </a:extLst>
          </p:cNvPr>
          <p:cNvSpPr>
            <a:spLocks xmlns:a="http://schemas.openxmlformats.org/drawingml/2006/main" noGrp="1"/>
          </p:cNvSpPr>
          <p:nvPr/>
        </p:nvSpPr>
        <p:spPr>
          <a:xfrm xmlns:a="http://schemas.openxmlformats.org/drawingml/2006/main">
            <a:off x="3114675" y="27146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550" b="1">
                <a:solidFill>
                  <a:srgbClr val="176B55"/>
                </a:solidFill>
                <a:latin typeface="Arial"/>
                <a:ea typeface="Arial"/>
                <a:cs typeface="Arial"/>
              </a:defRPr>
            </a:defPPr>
          </a:lstStyle>
          <a:p xmlns:a="http://schemas.openxmlformats.org/drawingml/2006/main">
            <a:pPr algn="ctr">
              <a:defRPr sz="2550" b="1">
                <a:solidFill>
                  <a:srgbClr val="176B55"/>
                </a:solidFill>
                <a:latin typeface="Arial"/>
                <a:ea typeface="Arial"/>
                <a:cs typeface="Arial"/>
              </a:defRPr>
            </a:pPr>
            <a:r>
              <a:rPr sz="2550" b="1">
                <a:solidFill>
                  <a:srgbClr val="176B55"/>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4A195E8A-F1ED-42E7-8301-DB9A0176E4B4}"/>
              </a:ext>
            </a:extLst>
          </p:cNvPr>
          <p:cNvSpPr>
            <a:spLocks xmlns:a="http://schemas.openxmlformats.org/drawingml/2006/main" noGrp="1"/>
          </p:cNvSpPr>
          <p:nvPr/>
        </p:nvSpPr>
        <p:spPr>
          <a:xfrm xmlns:a="http://schemas.openxmlformats.org/drawingml/2006/main">
            <a:off x="3476625" y="1905000"/>
            <a:ext cx="2190750" cy="224790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D8E1DC"/>
            </a:solidFill>
            <a:prstDash val="solid"/>
          </a:ln>
        </p:spPr>
      </p:sp>
      <p:sp>
        <p:nvSpPr>
          <p:cNvPr id="13" name="">
            <a:extLst xmlns:a="http://schemas.openxmlformats.org/drawingml/2006/main">
              <a:ext uri="{FF2B5EF4-FFF2-40B4-BE49-F238E27FC236}">
                <a16:creationId xmlns:a16="http://schemas.microsoft.com/office/drawing/2014/main" id="{02C2E683-79BE-42B0-B43A-DDEB9C76063D}"/>
              </a:ext>
            </a:extLst>
          </p:cNvPr>
          <p:cNvSpPr>
            <a:spLocks xmlns:a="http://schemas.openxmlformats.org/drawingml/2006/main" noGrp="1"/>
          </p:cNvSpPr>
          <p:nvPr/>
        </p:nvSpPr>
        <p:spPr>
          <a:xfrm xmlns:a="http://schemas.openxmlformats.org/drawingml/2006/main">
            <a:off x="3476625" y="1905000"/>
            <a:ext cx="2190750" cy="66675"/>
          </a:xfrm>
          <a:prstGeom xmlns:a="http://schemas.openxmlformats.org/drawingml/2006/main" prst="rect">
            <a:avLst/>
          </a:prstGeom>
          <a:solidFill xmlns:a="http://schemas.openxmlformats.org/drawingml/2006/main">
            <a:srgbClr val="D7912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D1F39BE-2253-4A2A-B0B4-E8AD74D1FB32}"/>
              </a:ext>
            </a:extLst>
          </p:cNvPr>
          <p:cNvSpPr>
            <a:spLocks xmlns:a="http://schemas.openxmlformats.org/drawingml/2006/main" noGrp="1"/>
          </p:cNvSpPr>
          <p:nvPr/>
        </p:nvSpPr>
        <p:spPr>
          <a:xfrm xmlns:a="http://schemas.openxmlformats.org/drawingml/2006/main">
            <a:off x="3667125" y="219075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8485"/>
          </a:bodyPr>
          <a:lstStyle xmlns:a="http://schemas.openxmlformats.org/drawingml/2006/main">
            <a:defPPr algn="l">
              <a:defRPr sz="1650" b="1">
                <a:solidFill>
                  <a:srgbClr val="15231F"/>
                </a:solidFill>
                <a:latin typeface="Arial"/>
                <a:ea typeface="Arial"/>
                <a:cs typeface="Arial"/>
              </a:defRPr>
            </a:defPPr>
          </a:lstStyle>
          <a:p xmlns:a="http://schemas.openxmlformats.org/drawingml/2006/main">
            <a:pPr algn="l">
              <a:defRPr sz="1650" b="1">
                <a:solidFill>
                  <a:srgbClr val="15231F"/>
                </a:solidFill>
                <a:latin typeface="Arial"/>
                <a:ea typeface="Arial"/>
                <a:cs typeface="Arial"/>
              </a:defRPr>
            </a:pPr>
            <a:r>
              <a:rPr sz="1650" b="1">
                <a:solidFill>
                  <a:srgbClr val="15231F"/>
                </a:solidFill>
                <a:latin typeface="Arial"/>
                <a:ea typeface="Arial"/>
                <a:cs typeface="Arial"/>
              </a:rPr>
              <a:t>2  Capture baseline</a:t>
            </a:r>
          </a:p>
        </p:txBody>
      </p:sp>
      <p:sp>
        <p:nvSpPr>
          <p:cNvPr id="15" name="">
            <a:extLst xmlns:a="http://schemas.openxmlformats.org/drawingml/2006/main">
              <a:ext uri="{FF2B5EF4-FFF2-40B4-BE49-F238E27FC236}">
                <a16:creationId xmlns:a16="http://schemas.microsoft.com/office/drawing/2014/main" id="{3421A2DD-232B-41E4-90F2-42B6384896A5}"/>
              </a:ext>
            </a:extLst>
          </p:cNvPr>
          <p:cNvSpPr>
            <a:spLocks xmlns:a="http://schemas.openxmlformats.org/drawingml/2006/main" noGrp="1"/>
          </p:cNvSpPr>
          <p:nvPr/>
        </p:nvSpPr>
        <p:spPr>
          <a:xfrm xmlns:a="http://schemas.openxmlformats.org/drawingml/2006/main">
            <a:off x="3667125" y="2838450"/>
            <a:ext cx="1828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Save the schedule and</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input dataset under a</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unique run ID</a:t>
            </a:r>
          </a:p>
        </p:txBody>
      </p:sp>
      <p:sp>
        <p:nvSpPr>
          <p:cNvPr id="16" name="">
            <a:extLst xmlns:a="http://schemas.openxmlformats.org/drawingml/2006/main">
              <a:ext uri="{FF2B5EF4-FFF2-40B4-BE49-F238E27FC236}">
                <a16:creationId xmlns:a16="http://schemas.microsoft.com/office/drawing/2014/main" id="{C126D421-9E9D-4AAD-A07F-04793BF075D3}"/>
              </a:ext>
            </a:extLst>
          </p:cNvPr>
          <p:cNvSpPr>
            <a:spLocks xmlns:a="http://schemas.openxmlformats.org/drawingml/2006/main" noGrp="1"/>
          </p:cNvSpPr>
          <p:nvPr/>
        </p:nvSpPr>
        <p:spPr>
          <a:xfrm xmlns:a="http://schemas.openxmlformats.org/drawingml/2006/main">
            <a:off x="5762625" y="2952750"/>
            <a:ext cx="285750" cy="19050"/>
          </a:xfrm>
          <a:prstGeom xmlns:a="http://schemas.openxmlformats.org/drawingml/2006/main" prst="rect">
            <a:avLst/>
          </a:prstGeom>
          <a:solidFill xmlns:a="http://schemas.openxmlformats.org/drawingml/2006/main">
            <a:srgbClr val="176B5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2B85741-CA4D-49D2-90B7-2FFAC8B96D77}"/>
              </a:ext>
            </a:extLst>
          </p:cNvPr>
          <p:cNvSpPr>
            <a:spLocks xmlns:a="http://schemas.openxmlformats.org/drawingml/2006/main" noGrp="1"/>
          </p:cNvSpPr>
          <p:nvPr/>
        </p:nvSpPr>
        <p:spPr>
          <a:xfrm xmlns:a="http://schemas.openxmlformats.org/drawingml/2006/main">
            <a:off x="5810250" y="27146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550" b="1">
                <a:solidFill>
                  <a:srgbClr val="176B55"/>
                </a:solidFill>
                <a:latin typeface="Arial"/>
                <a:ea typeface="Arial"/>
                <a:cs typeface="Arial"/>
              </a:defRPr>
            </a:defPPr>
          </a:lstStyle>
          <a:p xmlns:a="http://schemas.openxmlformats.org/drawingml/2006/main">
            <a:pPr algn="ctr">
              <a:defRPr sz="2550" b="1">
                <a:solidFill>
                  <a:srgbClr val="176B55"/>
                </a:solidFill>
                <a:latin typeface="Arial"/>
                <a:ea typeface="Arial"/>
                <a:cs typeface="Arial"/>
              </a:defRPr>
            </a:pPr>
            <a:r>
              <a:rPr sz="2550" b="1">
                <a:solidFill>
                  <a:srgbClr val="176B55"/>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E9EE45FC-F6C5-4D62-B3B6-5B9180DEAA3C}"/>
              </a:ext>
            </a:extLst>
          </p:cNvPr>
          <p:cNvSpPr>
            <a:spLocks xmlns:a="http://schemas.openxmlformats.org/drawingml/2006/main" noGrp="1"/>
          </p:cNvSpPr>
          <p:nvPr/>
        </p:nvSpPr>
        <p:spPr>
          <a:xfrm xmlns:a="http://schemas.openxmlformats.org/drawingml/2006/main">
            <a:off x="6172200" y="1905000"/>
            <a:ext cx="2190750" cy="224790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D8E1DC"/>
            </a:solidFill>
            <a:prstDash val="solid"/>
          </a:ln>
        </p:spPr>
      </p:sp>
      <p:sp>
        <p:nvSpPr>
          <p:cNvPr id="19" name="">
            <a:extLst xmlns:a="http://schemas.openxmlformats.org/drawingml/2006/main">
              <a:ext uri="{FF2B5EF4-FFF2-40B4-BE49-F238E27FC236}">
                <a16:creationId xmlns:a16="http://schemas.microsoft.com/office/drawing/2014/main" id="{8E6B8595-62F1-4766-9477-BF678D0BE079}"/>
              </a:ext>
            </a:extLst>
          </p:cNvPr>
          <p:cNvSpPr>
            <a:spLocks xmlns:a="http://schemas.openxmlformats.org/drawingml/2006/main" noGrp="1"/>
          </p:cNvSpPr>
          <p:nvPr/>
        </p:nvSpPr>
        <p:spPr>
          <a:xfrm xmlns:a="http://schemas.openxmlformats.org/drawingml/2006/main">
            <a:off x="6172200" y="1905000"/>
            <a:ext cx="2190750" cy="66675"/>
          </a:xfrm>
          <a:prstGeom xmlns:a="http://schemas.openxmlformats.org/drawingml/2006/main" prst="rect">
            <a:avLst/>
          </a:prstGeom>
          <a:solidFill xmlns:a="http://schemas.openxmlformats.org/drawingml/2006/main">
            <a:srgbClr val="176B5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CECA8B8-A7E7-4342-B644-B684AC81398C}"/>
              </a:ext>
            </a:extLst>
          </p:cNvPr>
          <p:cNvSpPr>
            <a:spLocks xmlns:a="http://schemas.openxmlformats.org/drawingml/2006/main" noGrp="1"/>
          </p:cNvSpPr>
          <p:nvPr/>
        </p:nvSpPr>
        <p:spPr>
          <a:xfrm xmlns:a="http://schemas.openxmlformats.org/drawingml/2006/main">
            <a:off x="6362700" y="219075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5231F"/>
                </a:solidFill>
                <a:latin typeface="Arial"/>
                <a:ea typeface="Arial"/>
                <a:cs typeface="Arial"/>
              </a:defRPr>
            </a:defPPr>
          </a:lstStyle>
          <a:p xmlns:a="http://schemas.openxmlformats.org/drawingml/2006/main">
            <a:pPr algn="l">
              <a:defRPr sz="1650" b="1">
                <a:solidFill>
                  <a:srgbClr val="15231F"/>
                </a:solidFill>
                <a:latin typeface="Arial"/>
                <a:ea typeface="Arial"/>
                <a:cs typeface="Arial"/>
              </a:defRPr>
            </a:pPr>
            <a:r>
              <a:rPr sz="1650" b="1">
                <a:solidFill>
                  <a:srgbClr val="15231F"/>
                </a:solidFill>
                <a:latin typeface="Arial"/>
                <a:ea typeface="Arial"/>
                <a:cs typeface="Arial"/>
              </a:rPr>
              <a:t>3  Evaluate</a:t>
            </a:r>
          </a:p>
        </p:txBody>
      </p:sp>
      <p:sp>
        <p:nvSpPr>
          <p:cNvPr id="21" name="">
            <a:extLst xmlns:a="http://schemas.openxmlformats.org/drawingml/2006/main">
              <a:ext uri="{FF2B5EF4-FFF2-40B4-BE49-F238E27FC236}">
                <a16:creationId xmlns:a16="http://schemas.microsoft.com/office/drawing/2014/main" id="{4EF501B8-5F91-425C-9F49-C07440F32E70}"/>
              </a:ext>
            </a:extLst>
          </p:cNvPr>
          <p:cNvSpPr>
            <a:spLocks xmlns:a="http://schemas.openxmlformats.org/drawingml/2006/main" noGrp="1"/>
          </p:cNvSpPr>
          <p:nvPr/>
        </p:nvSpPr>
        <p:spPr>
          <a:xfrm xmlns:a="http://schemas.openxmlformats.org/drawingml/2006/main">
            <a:off x="6362700" y="2838450"/>
            <a:ext cx="1828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Apply shared metric</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definitions and store the</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metric version</a:t>
            </a:r>
          </a:p>
        </p:txBody>
      </p:sp>
      <p:sp>
        <p:nvSpPr>
          <p:cNvPr id="22" name="">
            <a:extLst xmlns:a="http://schemas.openxmlformats.org/drawingml/2006/main">
              <a:ext uri="{FF2B5EF4-FFF2-40B4-BE49-F238E27FC236}">
                <a16:creationId xmlns:a16="http://schemas.microsoft.com/office/drawing/2014/main" id="{E4FF70CE-AAF9-4E67-981F-391D1059CC36}"/>
              </a:ext>
            </a:extLst>
          </p:cNvPr>
          <p:cNvSpPr>
            <a:spLocks xmlns:a="http://schemas.openxmlformats.org/drawingml/2006/main" noGrp="1"/>
          </p:cNvSpPr>
          <p:nvPr/>
        </p:nvSpPr>
        <p:spPr>
          <a:xfrm xmlns:a="http://schemas.openxmlformats.org/drawingml/2006/main">
            <a:off x="8458200" y="2952750"/>
            <a:ext cx="285750" cy="19050"/>
          </a:xfrm>
          <a:prstGeom xmlns:a="http://schemas.openxmlformats.org/drawingml/2006/main" prst="rect">
            <a:avLst/>
          </a:prstGeom>
          <a:solidFill xmlns:a="http://schemas.openxmlformats.org/drawingml/2006/main">
            <a:srgbClr val="176B5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A8DC19F-485C-4E95-A580-C7EB1BE33978}"/>
              </a:ext>
            </a:extLst>
          </p:cNvPr>
          <p:cNvSpPr>
            <a:spLocks xmlns:a="http://schemas.openxmlformats.org/drawingml/2006/main" noGrp="1"/>
          </p:cNvSpPr>
          <p:nvPr/>
        </p:nvSpPr>
        <p:spPr>
          <a:xfrm xmlns:a="http://schemas.openxmlformats.org/drawingml/2006/main">
            <a:off x="8505825" y="27146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550" b="1">
                <a:solidFill>
                  <a:srgbClr val="176B55"/>
                </a:solidFill>
                <a:latin typeface="Arial"/>
                <a:ea typeface="Arial"/>
                <a:cs typeface="Arial"/>
              </a:defRPr>
            </a:defPPr>
          </a:lstStyle>
          <a:p xmlns:a="http://schemas.openxmlformats.org/drawingml/2006/main">
            <a:pPr algn="ctr">
              <a:defRPr sz="2550" b="1">
                <a:solidFill>
                  <a:srgbClr val="176B55"/>
                </a:solidFill>
                <a:latin typeface="Arial"/>
                <a:ea typeface="Arial"/>
                <a:cs typeface="Arial"/>
              </a:defRPr>
            </a:pPr>
            <a:r>
              <a:rPr sz="2550" b="1">
                <a:solidFill>
                  <a:srgbClr val="176B55"/>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74451566-6ECF-4069-B385-88F8D1DF4566}"/>
              </a:ext>
            </a:extLst>
          </p:cNvPr>
          <p:cNvSpPr>
            <a:spLocks xmlns:a="http://schemas.openxmlformats.org/drawingml/2006/main" noGrp="1"/>
          </p:cNvSpPr>
          <p:nvPr/>
        </p:nvSpPr>
        <p:spPr>
          <a:xfrm xmlns:a="http://schemas.openxmlformats.org/drawingml/2006/main">
            <a:off x="8867775" y="1905000"/>
            <a:ext cx="2190750" cy="224790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D8E1DC"/>
            </a:solidFill>
            <a:prstDash val="solid"/>
          </a:ln>
        </p:spPr>
      </p:sp>
      <p:sp>
        <p:nvSpPr>
          <p:cNvPr id="25" name="">
            <a:extLst xmlns:a="http://schemas.openxmlformats.org/drawingml/2006/main">
              <a:ext uri="{FF2B5EF4-FFF2-40B4-BE49-F238E27FC236}">
                <a16:creationId xmlns:a16="http://schemas.microsoft.com/office/drawing/2014/main" id="{4CDE91EA-E716-4C08-AB0E-54840DE381BC}"/>
              </a:ext>
            </a:extLst>
          </p:cNvPr>
          <p:cNvSpPr>
            <a:spLocks xmlns:a="http://schemas.openxmlformats.org/drawingml/2006/main" noGrp="1"/>
          </p:cNvSpPr>
          <p:nvPr/>
        </p:nvSpPr>
        <p:spPr>
          <a:xfrm xmlns:a="http://schemas.openxmlformats.org/drawingml/2006/main">
            <a:off x="8867775" y="1905000"/>
            <a:ext cx="2190750" cy="66675"/>
          </a:xfrm>
          <a:prstGeom xmlns:a="http://schemas.openxmlformats.org/drawingml/2006/main" prst="rect">
            <a:avLst/>
          </a:prstGeom>
          <a:solidFill xmlns:a="http://schemas.openxmlformats.org/drawingml/2006/main">
            <a:srgbClr val="176B55"/>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05730E1-321B-4AFF-A07B-E0A52A05CEBC}"/>
              </a:ext>
            </a:extLst>
          </p:cNvPr>
          <p:cNvSpPr>
            <a:spLocks xmlns:a="http://schemas.openxmlformats.org/drawingml/2006/main" noGrp="1"/>
          </p:cNvSpPr>
          <p:nvPr/>
        </p:nvSpPr>
        <p:spPr>
          <a:xfrm xmlns:a="http://schemas.openxmlformats.org/drawingml/2006/main">
            <a:off x="9058275" y="219075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5231F"/>
                </a:solidFill>
                <a:latin typeface="Arial"/>
                <a:ea typeface="Arial"/>
                <a:cs typeface="Arial"/>
              </a:defRPr>
            </a:defPPr>
          </a:lstStyle>
          <a:p xmlns:a="http://schemas.openxmlformats.org/drawingml/2006/main">
            <a:pPr algn="l">
              <a:defRPr sz="1650" b="1">
                <a:solidFill>
                  <a:srgbClr val="15231F"/>
                </a:solidFill>
                <a:latin typeface="Arial"/>
                <a:ea typeface="Arial"/>
                <a:cs typeface="Arial"/>
              </a:defRPr>
            </a:pPr>
            <a:r>
              <a:rPr sz="1650" b="1">
                <a:solidFill>
                  <a:srgbClr val="15231F"/>
                </a:solidFill>
                <a:latin typeface="Arial"/>
                <a:ea typeface="Arial"/>
                <a:cs typeface="Arial"/>
              </a:rPr>
              <a:t>4  Plan for climate</a:t>
            </a:r>
          </a:p>
        </p:txBody>
      </p:sp>
      <p:sp>
        <p:nvSpPr>
          <p:cNvPr id="27" name="">
            <a:extLst xmlns:a="http://schemas.openxmlformats.org/drawingml/2006/main">
              <a:ext uri="{FF2B5EF4-FFF2-40B4-BE49-F238E27FC236}">
                <a16:creationId xmlns:a16="http://schemas.microsoft.com/office/drawing/2014/main" id="{1ACEF6F1-729E-4F2C-9483-AE51D9FEEB63}"/>
              </a:ext>
            </a:extLst>
          </p:cNvPr>
          <p:cNvSpPr>
            <a:spLocks xmlns:a="http://schemas.openxmlformats.org/drawingml/2006/main" noGrp="1"/>
          </p:cNvSpPr>
          <p:nvPr/>
        </p:nvSpPr>
        <p:spPr>
          <a:xfrm xmlns:a="http://schemas.openxmlformats.org/drawingml/2006/main">
            <a:off x="9058275" y="2838450"/>
            <a:ext cx="1828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6296"/>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Future schedule proposal</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uses the same dataset and</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evaluator</a:t>
            </a:r>
          </a:p>
        </p:txBody>
      </p:sp>
      <p:sp>
        <p:nvSpPr>
          <p:cNvPr id="28" name="">
            <a:extLst xmlns:a="http://schemas.openxmlformats.org/drawingml/2006/main">
              <a:ext uri="{FF2B5EF4-FFF2-40B4-BE49-F238E27FC236}">
                <a16:creationId xmlns:a16="http://schemas.microsoft.com/office/drawing/2014/main" id="{6ED3D30D-85C1-4303-A7CC-915AFDBFA3BA}"/>
              </a:ext>
            </a:extLst>
          </p:cNvPr>
          <p:cNvSpPr>
            <a:spLocks xmlns:a="http://schemas.openxmlformats.org/drawingml/2006/main" noGrp="1"/>
          </p:cNvSpPr>
          <p:nvPr/>
        </p:nvSpPr>
        <p:spPr>
          <a:xfrm xmlns:a="http://schemas.openxmlformats.org/drawingml/2006/main">
            <a:off x="781050" y="4552950"/>
            <a:ext cx="10287000" cy="1028700"/>
          </a:xfrm>
          <a:prstGeom xmlns:a="http://schemas.openxmlformats.org/drawingml/2006/main" prst="roundRect">
            <a:avLst>
              <a:gd name="adj" fmla="val 9259"/>
            </a:avLst>
          </a:prstGeom>
          <a:solidFill xmlns:a="http://schemas.openxmlformats.org/drawingml/2006/main">
            <a:srgbClr val="E6EDE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AE05E438-6162-4EC9-A159-8FFF21C073FC}"/>
              </a:ext>
            </a:extLst>
          </p:cNvPr>
          <p:cNvSpPr>
            <a:spLocks xmlns:a="http://schemas.openxmlformats.org/drawingml/2006/main" noGrp="1"/>
          </p:cNvSpPr>
          <p:nvPr/>
        </p:nvSpPr>
        <p:spPr>
          <a:xfrm xmlns:a="http://schemas.openxmlformats.org/drawingml/2006/main">
            <a:off x="1009650" y="4724400"/>
            <a:ext cx="2524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76B55"/>
                </a:solidFill>
                <a:latin typeface="Arial"/>
                <a:ea typeface="Arial"/>
                <a:cs typeface="Arial"/>
              </a:defRPr>
            </a:defPPr>
          </a:lstStyle>
          <a:p xmlns:a="http://schemas.openxmlformats.org/drawingml/2006/main">
            <a:pPr algn="l">
              <a:defRPr sz="1575" b="1">
                <a:solidFill>
                  <a:srgbClr val="176B55"/>
                </a:solidFill>
                <a:latin typeface="Arial"/>
                <a:ea typeface="Arial"/>
                <a:cs typeface="Arial"/>
              </a:defRPr>
            </a:pPr>
            <a:r>
              <a:rPr sz="1575" b="1">
                <a:solidFill>
                  <a:srgbClr val="176B55"/>
                </a:solidFill>
                <a:latin typeface="Arial"/>
                <a:ea typeface="Arial"/>
                <a:cs typeface="Arial"/>
              </a:rPr>
              <a:t>One frozen reference</a:t>
            </a:r>
          </a:p>
        </p:txBody>
      </p:sp>
      <p:sp>
        <p:nvSpPr>
          <p:cNvPr id="30" name="">
            <a:extLst xmlns:a="http://schemas.openxmlformats.org/drawingml/2006/main">
              <a:ext uri="{FF2B5EF4-FFF2-40B4-BE49-F238E27FC236}">
                <a16:creationId xmlns:a16="http://schemas.microsoft.com/office/drawing/2014/main" id="{F150F73C-BDED-4A55-B2D9-A010CEC052AE}"/>
              </a:ext>
            </a:extLst>
          </p:cNvPr>
          <p:cNvSpPr>
            <a:spLocks xmlns:a="http://schemas.openxmlformats.org/drawingml/2006/main" noGrp="1"/>
          </p:cNvSpPr>
          <p:nvPr/>
        </p:nvSpPr>
        <p:spPr>
          <a:xfrm xmlns:a="http://schemas.openxmlformats.org/drawingml/2006/main">
            <a:off x="1009650" y="5114925"/>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5231F"/>
                </a:solidFill>
                <a:latin typeface="Arial"/>
                <a:ea typeface="Arial"/>
                <a:cs typeface="Arial"/>
              </a:defRPr>
            </a:defPPr>
          </a:lstStyle>
          <a:p xmlns:a="http://schemas.openxmlformats.org/drawingml/2006/main">
            <a:pPr algn="l">
              <a:defRPr sz="1350" b="0">
                <a:solidFill>
                  <a:srgbClr val="15231F"/>
                </a:solidFill>
                <a:latin typeface="Arial"/>
                <a:ea typeface="Arial"/>
                <a:cs typeface="Arial"/>
              </a:defRPr>
            </a:pPr>
            <a:r>
              <a:rPr sz="1350" b="0">
                <a:solidFill>
                  <a:srgbClr val="15231F"/>
                </a:solidFill>
                <a:latin typeface="Arial"/>
                <a:ea typeface="Arial"/>
                <a:cs typeface="Arial"/>
              </a:rPr>
              <a:t>Assignments • time windows • worker IDs • equipment IDs • original input dataset • baseline metrics</a:t>
            </a:r>
          </a:p>
        </p:txBody>
      </p:sp>
    </p:spTree>
    <p:extLst>
      <p:ext uri="{BB962C8B-B14F-4D97-AF65-F5344CB8AC3E}">
        <p14:creationId xmlns:p14="http://schemas.microsoft.com/office/powerpoint/2010/main" val="840398212"/>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7FE7A795-4B44-4073-9DED-A1637E1D281C}"/>
              </a:ext>
            </a:extLst>
          </p:cNvPr>
          <p:cNvSpPr>
            <a:spLocks xmlns:a="http://schemas.openxmlformats.org/drawingml/2006/main" noGrp="1"/>
          </p:cNvSpPr>
          <p:nvPr/>
        </p:nvSpPr>
        <p:spPr>
          <a:xfrm xmlns:a="http://schemas.openxmlformats.org/drawingml/2006/main">
            <a:off x="647700" y="3619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MANAGER / SUPERVISOR</a:t>
            </a:r>
          </a:p>
        </p:txBody>
      </p:sp>
      <p:sp>
        <p:nvSpPr>
          <p:cNvPr id="2" name="">
            <a:extLst xmlns:a="http://schemas.openxmlformats.org/drawingml/2006/main">
              <a:ext uri="{FF2B5EF4-FFF2-40B4-BE49-F238E27FC236}">
                <a16:creationId xmlns:a16="http://schemas.microsoft.com/office/drawing/2014/main" id="{4E6AF95C-B203-44D1-8BED-70DA1BF49F77}"/>
              </a:ext>
            </a:extLst>
          </p:cNvPr>
          <p:cNvSpPr>
            <a:spLocks xmlns:a="http://schemas.openxmlformats.org/drawingml/2006/main" noGrp="1"/>
          </p:cNvSpPr>
          <p:nvPr/>
        </p:nvSpPr>
        <p:spPr>
          <a:xfrm xmlns:a="http://schemas.openxmlformats.org/drawingml/2006/main">
            <a:off x="647700" y="666750"/>
            <a:ext cx="10715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8903"/>
          </a:bodyPr>
          <a:lstStyle xmlns:a="http://schemas.openxmlformats.org/drawingml/2006/main">
            <a:defPPr algn="l">
              <a:defRPr sz="3450" b="1">
                <a:solidFill>
                  <a:srgbClr val="15231F"/>
                </a:solidFill>
                <a:latin typeface="Arial"/>
                <a:ea typeface="Arial"/>
                <a:cs typeface="Arial"/>
              </a:defRPr>
            </a:defPPr>
          </a:lstStyle>
          <a:p xmlns:a="http://schemas.openxmlformats.org/drawingml/2006/main">
            <a:pPr algn="l">
              <a:defRPr sz="3450" b="1">
                <a:solidFill>
                  <a:srgbClr val="15231F"/>
                </a:solidFill>
                <a:latin typeface="Arial"/>
                <a:ea typeface="Arial"/>
                <a:cs typeface="Arial"/>
              </a:defRPr>
            </a:pPr>
            <a:r>
              <a:rPr sz="3450" b="1">
                <a:solidFill>
                  <a:srgbClr val="15231F"/>
                </a:solidFill>
                <a:latin typeface="Arial"/>
                <a:ea typeface="Arial"/>
                <a:cs typeface="Arial"/>
              </a:rPr>
              <a:t>Supervisor view: capture, inspect, then continue planning</a:t>
            </a:r>
          </a:p>
        </p:txBody>
      </p:sp>
      <p:sp>
        <p:nvSpPr>
          <p:cNvPr id="3" name="">
            <a:extLst xmlns:a="http://schemas.openxmlformats.org/drawingml/2006/main">
              <a:ext uri="{FF2B5EF4-FFF2-40B4-BE49-F238E27FC236}">
                <a16:creationId xmlns:a16="http://schemas.microsoft.com/office/drawing/2014/main" id="{C80002E4-12CC-4D24-ADAD-26BFBE37955A}"/>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FEAE53D-59F8-4D3E-B0B9-B37109770EA0}"/>
              </a:ext>
            </a:extLst>
          </p:cNvPr>
          <p:cNvSpPr>
            <a:spLocks xmlns:a="http://schemas.openxmlformats.org/drawingml/2006/main" noGrp="1"/>
          </p:cNvSpPr>
          <p:nvPr/>
        </p:nvSpPr>
        <p:spPr>
          <a:xfrm xmlns:a="http://schemas.openxmlformats.org/drawingml/2006/main">
            <a:off x="647700" y="63341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CLIMATE-RESILIENT WORKFORCE PLANNING</a:t>
            </a:r>
          </a:p>
        </p:txBody>
      </p:sp>
      <p:sp>
        <p:nvSpPr>
          <p:cNvPr id="5" name="">
            <a:extLst xmlns:a="http://schemas.openxmlformats.org/drawingml/2006/main">
              <a:ext uri="{FF2B5EF4-FFF2-40B4-BE49-F238E27FC236}">
                <a16:creationId xmlns:a16="http://schemas.microsoft.com/office/drawing/2014/main" id="{C2585DA1-3E6F-47C9-83CE-8DB079A70DDF}"/>
              </a:ext>
            </a:extLst>
          </p:cNvPr>
          <p:cNvSpPr>
            <a:spLocks xmlns:a="http://schemas.openxmlformats.org/drawingml/2006/main" noGrp="1"/>
          </p:cNvSpPr>
          <p:nvPr/>
        </p:nvSpPr>
        <p:spPr>
          <a:xfrm xmlns:a="http://schemas.openxmlformats.org/drawingml/2006/main">
            <a:off x="11096625" y="62865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86861"/>
                </a:solidFill>
                <a:latin typeface="Arial"/>
                <a:ea typeface="Arial"/>
                <a:cs typeface="Arial"/>
              </a:defRPr>
            </a:defPPr>
          </a:lstStyle>
          <a:p xmlns:a="http://schemas.openxmlformats.org/drawingml/2006/main">
            <a:pPr algn="r">
              <a:defRPr sz="1050" b="1">
                <a:solidFill>
                  <a:srgbClr val="586861"/>
                </a:solidFill>
                <a:latin typeface="Arial"/>
                <a:ea typeface="Arial"/>
                <a:cs typeface="Arial"/>
              </a:defRPr>
            </a:pPr>
            <a:r>
              <a:rPr sz="1050" b="1">
                <a:solidFill>
                  <a:srgbClr val="586861"/>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B826D0F0-2711-475C-AE3A-C1CCD2C937B6}"/>
              </a:ext>
            </a:extLst>
          </p:cNvPr>
          <p:cNvSpPr>
            <a:spLocks xmlns:a="http://schemas.openxmlformats.org/drawingml/2006/main" noGrp="1"/>
          </p:cNvSpPr>
          <p:nvPr/>
        </p:nvSpPr>
        <p:spPr>
          <a:xfrm xmlns:a="http://schemas.openxmlformats.org/drawingml/2006/main">
            <a:off x="647700" y="1504950"/>
            <a:ext cx="10896600" cy="4333875"/>
          </a:xfrm>
          <a:prstGeom xmlns:a="http://schemas.openxmlformats.org/drawingml/2006/main" prst="roundRect">
            <a:avLst>
              <a:gd name="adj" fmla="val 2637"/>
            </a:avLst>
          </a:prstGeom>
          <a:solidFill xmlns:a="http://schemas.openxmlformats.org/drawingml/2006/main">
            <a:srgbClr val="FFFFFF"/>
          </a:solidFill>
          <a:ln xmlns:a="http://schemas.openxmlformats.org/drawingml/2006/main" w="9525">
            <a:solidFill>
              <a:srgbClr val="D8E1DC"/>
            </a:solidFill>
            <a:prstDash val="solid"/>
          </a:ln>
        </p:spPr>
      </p:sp>
      <p:sp>
        <p:nvSpPr>
          <p:cNvPr id="7" name="">
            <a:extLst xmlns:a="http://schemas.openxmlformats.org/drawingml/2006/main">
              <a:ext uri="{FF2B5EF4-FFF2-40B4-BE49-F238E27FC236}">
                <a16:creationId xmlns:a16="http://schemas.microsoft.com/office/drawing/2014/main" id="{B1957F89-9465-4ABB-B955-7579CCE8F4DC}"/>
              </a:ext>
            </a:extLst>
          </p:cNvPr>
          <p:cNvSpPr>
            <a:spLocks xmlns:a="http://schemas.openxmlformats.org/drawingml/2006/main" noGrp="1"/>
          </p:cNvSpPr>
          <p:nvPr/>
        </p:nvSpPr>
        <p:spPr>
          <a:xfrm xmlns:a="http://schemas.openxmlformats.org/drawingml/2006/main">
            <a:off x="647700" y="1504950"/>
            <a:ext cx="1952625" cy="4333875"/>
          </a:xfrm>
          <a:prstGeom xmlns:a="http://schemas.openxmlformats.org/drawingml/2006/main" prst="roundRect">
            <a:avLst>
              <a:gd name="adj" fmla="val 5854"/>
            </a:avLst>
          </a:prstGeom>
          <a:solidFill xmlns:a="http://schemas.openxmlformats.org/drawingml/2006/main">
            <a:srgbClr val="F0F4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F98B4C2-B3C9-46C0-993D-270C3DDB4A0A}"/>
              </a:ext>
            </a:extLst>
          </p:cNvPr>
          <p:cNvSpPr>
            <a:spLocks xmlns:a="http://schemas.openxmlformats.org/drawingml/2006/main" noGrp="1"/>
          </p:cNvSpPr>
          <p:nvPr/>
        </p:nvSpPr>
        <p:spPr>
          <a:xfrm xmlns:a="http://schemas.openxmlformats.org/drawingml/2006/main">
            <a:off x="857250" y="1714500"/>
            <a:ext cx="1476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86861"/>
                </a:solidFill>
                <a:latin typeface="Arial"/>
                <a:ea typeface="Arial"/>
                <a:cs typeface="Arial"/>
              </a:defRPr>
            </a:defPPr>
          </a:lstStyle>
          <a:p xmlns:a="http://schemas.openxmlformats.org/drawingml/2006/main">
            <a:pPr algn="l">
              <a:defRPr sz="975" b="1">
                <a:solidFill>
                  <a:srgbClr val="586861"/>
                </a:solidFill>
                <a:latin typeface="Arial"/>
                <a:ea typeface="Arial"/>
                <a:cs typeface="Arial"/>
              </a:defRPr>
            </a:pPr>
            <a:r>
              <a:rPr sz="975" b="1">
                <a:solidFill>
                  <a:srgbClr val="586861"/>
                </a:solidFill>
                <a:latin typeface="Arial"/>
                <a:ea typeface="Arial"/>
                <a:cs typeface="Arial"/>
              </a:rPr>
              <a:t>OPERATIONS</a:t>
            </a:r>
          </a:p>
        </p:txBody>
      </p:sp>
      <p:sp>
        <p:nvSpPr>
          <p:cNvPr id="9" name="">
            <a:extLst xmlns:a="http://schemas.openxmlformats.org/drawingml/2006/main">
              <a:ext uri="{FF2B5EF4-FFF2-40B4-BE49-F238E27FC236}">
                <a16:creationId xmlns:a16="http://schemas.microsoft.com/office/drawing/2014/main" id="{C9A14532-26EE-4717-BE46-FDECF7FE2E2E}"/>
              </a:ext>
            </a:extLst>
          </p:cNvPr>
          <p:cNvSpPr>
            <a:spLocks xmlns:a="http://schemas.openxmlformats.org/drawingml/2006/main" noGrp="1"/>
          </p:cNvSpPr>
          <p:nvPr/>
        </p:nvSpPr>
        <p:spPr>
          <a:xfrm xmlns:a="http://schemas.openxmlformats.org/drawingml/2006/main">
            <a:off x="895350" y="20574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86861"/>
                </a:solidFill>
                <a:latin typeface="Arial"/>
                <a:ea typeface="Arial"/>
                <a:cs typeface="Arial"/>
              </a:defRPr>
            </a:defPPr>
          </a:lstStyle>
          <a:p xmlns:a="http://schemas.openxmlformats.org/drawingml/2006/main">
            <a:pPr algn="l">
              <a:defRPr sz="1200" b="0">
                <a:solidFill>
                  <a:srgbClr val="586861"/>
                </a:solidFill>
                <a:latin typeface="Arial"/>
                <a:ea typeface="Arial"/>
                <a:cs typeface="Arial"/>
              </a:defRPr>
            </a:pPr>
            <a:r>
              <a:rPr sz="1200" b="0">
                <a:solidFill>
                  <a:srgbClr val="586861"/>
                </a:solidFill>
                <a:latin typeface="Arial"/>
                <a:ea typeface="Arial"/>
                <a:cs typeface="Arial"/>
              </a:rPr>
              <a:t>Overview</a:t>
            </a:r>
          </a:p>
        </p:txBody>
      </p:sp>
      <p:sp>
        <p:nvSpPr>
          <p:cNvPr id="10" name="">
            <a:extLst xmlns:a="http://schemas.openxmlformats.org/drawingml/2006/main">
              <a:ext uri="{FF2B5EF4-FFF2-40B4-BE49-F238E27FC236}">
                <a16:creationId xmlns:a16="http://schemas.microsoft.com/office/drawing/2014/main" id="{05B858E0-4020-4EBC-B7D1-6B657684BB81}"/>
              </a:ext>
            </a:extLst>
          </p:cNvPr>
          <p:cNvSpPr>
            <a:spLocks xmlns:a="http://schemas.openxmlformats.org/drawingml/2006/main" noGrp="1"/>
          </p:cNvSpPr>
          <p:nvPr/>
        </p:nvSpPr>
        <p:spPr>
          <a:xfrm xmlns:a="http://schemas.openxmlformats.org/drawingml/2006/main">
            <a:off x="895350" y="24765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86861"/>
                </a:solidFill>
                <a:latin typeface="Arial"/>
                <a:ea typeface="Arial"/>
                <a:cs typeface="Arial"/>
              </a:defRPr>
            </a:defPPr>
          </a:lstStyle>
          <a:p xmlns:a="http://schemas.openxmlformats.org/drawingml/2006/main">
            <a:pPr algn="l">
              <a:defRPr sz="1200" b="0">
                <a:solidFill>
                  <a:srgbClr val="586861"/>
                </a:solidFill>
                <a:latin typeface="Arial"/>
                <a:ea typeface="Arial"/>
                <a:cs typeface="Arial"/>
              </a:defRPr>
            </a:pPr>
            <a:r>
              <a:rPr sz="1200" b="0">
                <a:solidFill>
                  <a:srgbClr val="586861"/>
                </a:solidFill>
                <a:latin typeface="Arial"/>
                <a:ea typeface="Arial"/>
                <a:cs typeface="Arial"/>
              </a:rPr>
              <a:t>Sites &amp; Locations</a:t>
            </a:r>
          </a:p>
        </p:txBody>
      </p:sp>
      <p:sp>
        <p:nvSpPr>
          <p:cNvPr id="11" name="">
            <a:extLst xmlns:a="http://schemas.openxmlformats.org/drawingml/2006/main">
              <a:ext uri="{FF2B5EF4-FFF2-40B4-BE49-F238E27FC236}">
                <a16:creationId xmlns:a16="http://schemas.microsoft.com/office/drawing/2014/main" id="{F8D1F8AA-438D-4CD9-9859-B2181C9814E4}"/>
              </a:ext>
            </a:extLst>
          </p:cNvPr>
          <p:cNvSpPr>
            <a:spLocks xmlns:a="http://schemas.openxmlformats.org/drawingml/2006/main" noGrp="1"/>
          </p:cNvSpPr>
          <p:nvPr/>
        </p:nvSpPr>
        <p:spPr>
          <a:xfrm xmlns:a="http://schemas.openxmlformats.org/drawingml/2006/main">
            <a:off x="895350" y="28956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86861"/>
                </a:solidFill>
                <a:latin typeface="Arial"/>
                <a:ea typeface="Arial"/>
                <a:cs typeface="Arial"/>
              </a:defRPr>
            </a:defPPr>
          </a:lstStyle>
          <a:p xmlns:a="http://schemas.openxmlformats.org/drawingml/2006/main">
            <a:pPr algn="l">
              <a:defRPr sz="1200" b="0">
                <a:solidFill>
                  <a:srgbClr val="586861"/>
                </a:solidFill>
                <a:latin typeface="Arial"/>
                <a:ea typeface="Arial"/>
                <a:cs typeface="Arial"/>
              </a:defRPr>
            </a:pPr>
            <a:r>
              <a:rPr sz="1200" b="0">
                <a:solidFill>
                  <a:srgbClr val="586861"/>
                </a:solidFill>
                <a:latin typeface="Arial"/>
                <a:ea typeface="Arial"/>
                <a:cs typeface="Arial"/>
              </a:rPr>
              <a:t>Weather</a:t>
            </a:r>
          </a:p>
        </p:txBody>
      </p:sp>
      <p:sp>
        <p:nvSpPr>
          <p:cNvPr id="12" name="">
            <a:extLst xmlns:a="http://schemas.openxmlformats.org/drawingml/2006/main">
              <a:ext uri="{FF2B5EF4-FFF2-40B4-BE49-F238E27FC236}">
                <a16:creationId xmlns:a16="http://schemas.microsoft.com/office/drawing/2014/main" id="{6E45103A-A514-43C7-993E-CBF2ECE5C03E}"/>
              </a:ext>
            </a:extLst>
          </p:cNvPr>
          <p:cNvSpPr>
            <a:spLocks xmlns:a="http://schemas.openxmlformats.org/drawingml/2006/main" noGrp="1"/>
          </p:cNvSpPr>
          <p:nvPr/>
        </p:nvSpPr>
        <p:spPr>
          <a:xfrm xmlns:a="http://schemas.openxmlformats.org/drawingml/2006/main">
            <a:off x="781050" y="3295650"/>
            <a:ext cx="1657350" cy="361950"/>
          </a:xfrm>
          <a:prstGeom xmlns:a="http://schemas.openxmlformats.org/drawingml/2006/main" prst="roundRect">
            <a:avLst>
              <a:gd name="adj" fmla="val 18421"/>
            </a:avLst>
          </a:prstGeom>
          <a:solidFill xmlns:a="http://schemas.openxmlformats.org/drawingml/2006/main">
            <a:srgbClr val="DCE9E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8421ED9-3DF5-47CE-B33E-E549C8FBBCAE}"/>
              </a:ext>
            </a:extLst>
          </p:cNvPr>
          <p:cNvSpPr>
            <a:spLocks xmlns:a="http://schemas.openxmlformats.org/drawingml/2006/main" noGrp="1"/>
          </p:cNvSpPr>
          <p:nvPr/>
        </p:nvSpPr>
        <p:spPr>
          <a:xfrm xmlns:a="http://schemas.openxmlformats.org/drawingml/2006/main">
            <a:off x="895350" y="33147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76B55"/>
                </a:solidFill>
                <a:latin typeface="Arial"/>
                <a:ea typeface="Arial"/>
                <a:cs typeface="Arial"/>
              </a:defRPr>
            </a:defPPr>
          </a:lstStyle>
          <a:p xmlns:a="http://schemas.openxmlformats.org/drawingml/2006/main">
            <a:pPr algn="l">
              <a:defRPr sz="1200" b="1">
                <a:solidFill>
                  <a:srgbClr val="176B55"/>
                </a:solidFill>
                <a:latin typeface="Arial"/>
                <a:ea typeface="Arial"/>
                <a:cs typeface="Arial"/>
              </a:defRPr>
            </a:pPr>
            <a:r>
              <a:rPr sz="1200" b="1">
                <a:solidFill>
                  <a:srgbClr val="176B55"/>
                </a:solidFill>
                <a:latin typeface="Arial"/>
                <a:ea typeface="Arial"/>
                <a:cs typeface="Arial"/>
              </a:rPr>
              <a:t>Safety &amp; Scheduling</a:t>
            </a:r>
          </a:p>
        </p:txBody>
      </p:sp>
      <p:sp>
        <p:nvSpPr>
          <p:cNvPr id="14" name="">
            <a:extLst xmlns:a="http://schemas.openxmlformats.org/drawingml/2006/main">
              <a:ext uri="{FF2B5EF4-FFF2-40B4-BE49-F238E27FC236}">
                <a16:creationId xmlns:a16="http://schemas.microsoft.com/office/drawing/2014/main" id="{33592ACD-3CCB-4BC6-A66D-092AEF9894B9}"/>
              </a:ext>
            </a:extLst>
          </p:cNvPr>
          <p:cNvSpPr>
            <a:spLocks xmlns:a="http://schemas.openxmlformats.org/drawingml/2006/main" noGrp="1"/>
          </p:cNvSpPr>
          <p:nvPr/>
        </p:nvSpPr>
        <p:spPr>
          <a:xfrm xmlns:a="http://schemas.openxmlformats.org/drawingml/2006/main">
            <a:off x="2857500" y="1714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75" b="1">
                <a:solidFill>
                  <a:srgbClr val="15231F"/>
                </a:solidFill>
                <a:latin typeface="Arial"/>
                <a:ea typeface="Arial"/>
                <a:cs typeface="Arial"/>
              </a:defRPr>
            </a:defPPr>
          </a:lstStyle>
          <a:p xmlns:a="http://schemas.openxmlformats.org/drawingml/2006/main">
            <a:pPr algn="l">
              <a:defRPr sz="2175" b="1">
                <a:solidFill>
                  <a:srgbClr val="15231F"/>
                </a:solidFill>
                <a:latin typeface="Arial"/>
                <a:ea typeface="Arial"/>
                <a:cs typeface="Arial"/>
              </a:defRPr>
            </a:pPr>
            <a:r>
              <a:rPr sz="2175" b="1">
                <a:solidFill>
                  <a:srgbClr val="15231F"/>
                </a:solidFill>
                <a:latin typeface="Arial"/>
                <a:ea typeface="Arial"/>
                <a:cs typeface="Arial"/>
              </a:rPr>
              <a:t>Safety &amp; Scheduling</a:t>
            </a:r>
          </a:p>
        </p:txBody>
      </p:sp>
      <p:sp>
        <p:nvSpPr>
          <p:cNvPr id="15" name="">
            <a:extLst xmlns:a="http://schemas.openxmlformats.org/drawingml/2006/main">
              <a:ext uri="{FF2B5EF4-FFF2-40B4-BE49-F238E27FC236}">
                <a16:creationId xmlns:a16="http://schemas.microsoft.com/office/drawing/2014/main" id="{BE876489-7094-47FC-8306-B907B01ADCE5}"/>
              </a:ext>
            </a:extLst>
          </p:cNvPr>
          <p:cNvSpPr>
            <a:spLocks xmlns:a="http://schemas.openxmlformats.org/drawingml/2006/main" noGrp="1"/>
          </p:cNvSpPr>
          <p:nvPr/>
        </p:nvSpPr>
        <p:spPr>
          <a:xfrm xmlns:a="http://schemas.openxmlformats.org/drawingml/2006/main">
            <a:off x="2857500" y="2171700"/>
            <a:ext cx="7810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86861"/>
                </a:solidFill>
                <a:latin typeface="Arial"/>
                <a:ea typeface="Arial"/>
                <a:cs typeface="Arial"/>
              </a:defRPr>
            </a:defPPr>
          </a:lstStyle>
          <a:p xmlns:a="http://schemas.openxmlformats.org/drawingml/2006/main">
            <a:pPr algn="l">
              <a:defRPr sz="1275" b="0">
                <a:solidFill>
                  <a:srgbClr val="586861"/>
                </a:solidFill>
                <a:latin typeface="Arial"/>
                <a:ea typeface="Arial"/>
                <a:cs typeface="Arial"/>
              </a:defRPr>
            </a:pPr>
            <a:r>
              <a:rPr sz="1275" b="0">
                <a:solidFill>
                  <a:srgbClr val="586861"/>
                </a:solidFill>
                <a:latin typeface="Arial"/>
                <a:ea typeface="Arial"/>
                <a:cs typeface="Arial"/>
              </a:rPr>
              <a:t>Site  Vadodara Plant     Date  13 Oct 2026     Run  RUN-2048</a:t>
            </a:r>
          </a:p>
        </p:txBody>
      </p:sp>
      <p:sp>
        <p:nvSpPr>
          <p:cNvPr id="16" name="">
            <a:extLst xmlns:a="http://schemas.openxmlformats.org/drawingml/2006/main">
              <a:ext uri="{FF2B5EF4-FFF2-40B4-BE49-F238E27FC236}">
                <a16:creationId xmlns:a16="http://schemas.microsoft.com/office/drawing/2014/main" id="{3DBB9CD0-ECF8-4E04-BF5C-7212CD45BBD1}"/>
              </a:ext>
            </a:extLst>
          </p:cNvPr>
          <p:cNvSpPr>
            <a:spLocks xmlns:a="http://schemas.openxmlformats.org/drawingml/2006/main" noGrp="1"/>
          </p:cNvSpPr>
          <p:nvPr/>
        </p:nvSpPr>
        <p:spPr>
          <a:xfrm xmlns:a="http://schemas.openxmlformats.org/drawingml/2006/main">
            <a:off x="2857500" y="2609850"/>
            <a:ext cx="8343900" cy="676275"/>
          </a:xfrm>
          <a:prstGeom xmlns:a="http://schemas.openxmlformats.org/drawingml/2006/main" prst="roundRect">
            <a:avLst>
              <a:gd name="adj" fmla="val 11268"/>
            </a:avLst>
          </a:prstGeom>
          <a:solidFill xmlns:a="http://schemas.openxmlformats.org/drawingml/2006/main">
            <a:srgbClr val="EEF4E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ECA69BB-E982-4DB1-940E-3D1A49D6674B}"/>
              </a:ext>
            </a:extLst>
          </p:cNvPr>
          <p:cNvSpPr>
            <a:spLocks xmlns:a="http://schemas.openxmlformats.org/drawingml/2006/main" noGrp="1"/>
          </p:cNvSpPr>
          <p:nvPr/>
        </p:nvSpPr>
        <p:spPr>
          <a:xfrm xmlns:a="http://schemas.openxmlformats.org/drawingml/2006/main">
            <a:off x="3048000" y="2714625"/>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6B55"/>
                </a:solidFill>
                <a:latin typeface="Arial"/>
                <a:ea typeface="Arial"/>
                <a:cs typeface="Arial"/>
              </a:defRPr>
            </a:defPPr>
          </a:lstStyle>
          <a:p xmlns:a="http://schemas.openxmlformats.org/drawingml/2006/main">
            <a:pPr algn="l">
              <a:defRPr sz="975" b="1">
                <a:solidFill>
                  <a:srgbClr val="176B55"/>
                </a:solidFill>
                <a:latin typeface="Arial"/>
                <a:ea typeface="Arial"/>
                <a:cs typeface="Arial"/>
              </a:defRPr>
            </a:pPr>
            <a:r>
              <a:rPr sz="975" b="1">
                <a:solidFill>
                  <a:srgbClr val="176B55"/>
                </a:solidFill>
                <a:latin typeface="Arial"/>
                <a:ea typeface="Arial"/>
                <a:cs typeface="Arial"/>
              </a:rPr>
              <a:t>SOURCE SCHEDULE SAVED</a:t>
            </a:r>
          </a:p>
        </p:txBody>
      </p:sp>
      <p:sp>
        <p:nvSpPr>
          <p:cNvPr id="18" name="">
            <a:extLst xmlns:a="http://schemas.openxmlformats.org/drawingml/2006/main">
              <a:ext uri="{FF2B5EF4-FFF2-40B4-BE49-F238E27FC236}">
                <a16:creationId xmlns:a16="http://schemas.microsoft.com/office/drawing/2014/main" id="{E06160BC-B8BC-428B-9C6B-2F63E2832936}"/>
              </a:ext>
            </a:extLst>
          </p:cNvPr>
          <p:cNvSpPr>
            <a:spLocks xmlns:a="http://schemas.openxmlformats.org/drawingml/2006/main" noGrp="1"/>
          </p:cNvSpPr>
          <p:nvPr/>
        </p:nvSpPr>
        <p:spPr>
          <a:xfrm xmlns:a="http://schemas.openxmlformats.org/drawingml/2006/main">
            <a:off x="3048000" y="2943225"/>
            <a:ext cx="4857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5231F"/>
                </a:solidFill>
                <a:latin typeface="Arial"/>
                <a:ea typeface="Arial"/>
                <a:cs typeface="Arial"/>
              </a:defRPr>
            </a:defPPr>
          </a:lstStyle>
          <a:p xmlns:a="http://schemas.openxmlformats.org/drawingml/2006/main">
            <a:pPr algn="l">
              <a:defRPr sz="1350" b="1">
                <a:solidFill>
                  <a:srgbClr val="15231F"/>
                </a:solidFill>
                <a:latin typeface="Arial"/>
                <a:ea typeface="Arial"/>
                <a:cs typeface="Arial"/>
              </a:defRPr>
            </a:pPr>
            <a:r>
              <a:rPr sz="1350" b="1">
                <a:solidFill>
                  <a:srgbClr val="15231F"/>
                </a:solidFill>
                <a:latin typeface="Arial"/>
                <a:ea typeface="Arial"/>
                <a:cs typeface="Arial"/>
              </a:rPr>
              <a:t>8 tasks  ·  12 workers  ·  4 equipment items</a:t>
            </a:r>
          </a:p>
        </p:txBody>
      </p:sp>
      <p:sp>
        <p:nvSpPr>
          <p:cNvPr id="19" name="">
            <a:extLst xmlns:a="http://schemas.openxmlformats.org/drawingml/2006/main">
              <a:ext uri="{FF2B5EF4-FFF2-40B4-BE49-F238E27FC236}">
                <a16:creationId xmlns:a16="http://schemas.microsoft.com/office/drawing/2014/main" id="{9693F75E-2685-42EB-8FD8-EEE13FB3C578}"/>
              </a:ext>
            </a:extLst>
          </p:cNvPr>
          <p:cNvSpPr>
            <a:spLocks xmlns:a="http://schemas.openxmlformats.org/drawingml/2006/main" noGrp="1"/>
          </p:cNvSpPr>
          <p:nvPr/>
        </p:nvSpPr>
        <p:spPr>
          <a:xfrm xmlns:a="http://schemas.openxmlformats.org/drawingml/2006/main">
            <a:off x="9077325" y="2762250"/>
            <a:ext cx="1847850" cy="381000"/>
          </a:xfrm>
          <a:prstGeom xmlns:a="http://schemas.openxmlformats.org/drawingml/2006/main" prst="roundRect">
            <a:avLst>
              <a:gd name="adj" fmla="val 15000"/>
            </a:avLst>
          </a:prstGeom>
          <a:solidFill xmlns:a="http://schemas.openxmlformats.org/drawingml/2006/main">
            <a:srgbClr val="176B5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0A0B911-4CEE-4047-8594-35D7A2BBA152}"/>
              </a:ext>
            </a:extLst>
          </p:cNvPr>
          <p:cNvSpPr>
            <a:spLocks xmlns:a="http://schemas.openxmlformats.org/drawingml/2006/main" noGrp="1"/>
          </p:cNvSpPr>
          <p:nvPr/>
        </p:nvSpPr>
        <p:spPr>
          <a:xfrm xmlns:a="http://schemas.openxmlformats.org/drawingml/2006/main">
            <a:off x="9077325" y="2790825"/>
            <a:ext cx="1847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FFFFFF"/>
                </a:solidFill>
                <a:latin typeface="Arial"/>
                <a:ea typeface="Arial"/>
                <a:cs typeface="Arial"/>
              </a:defRPr>
            </a:def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View baseline</a:t>
            </a:r>
          </a:p>
        </p:txBody>
      </p:sp>
      <p:sp>
        <p:nvSpPr>
          <p:cNvPr id="21" name="">
            <a:extLst xmlns:a="http://schemas.openxmlformats.org/drawingml/2006/main">
              <a:ext uri="{FF2B5EF4-FFF2-40B4-BE49-F238E27FC236}">
                <a16:creationId xmlns:a16="http://schemas.microsoft.com/office/drawing/2014/main" id="{0D78C2DE-411A-40E4-BC14-5DB68B302463}"/>
              </a:ext>
            </a:extLst>
          </p:cNvPr>
          <p:cNvSpPr>
            <a:spLocks xmlns:a="http://schemas.openxmlformats.org/drawingml/2006/main" noGrp="1"/>
          </p:cNvSpPr>
          <p:nvPr/>
        </p:nvSpPr>
        <p:spPr>
          <a:xfrm xmlns:a="http://schemas.openxmlformats.org/drawingml/2006/main">
            <a:off x="3048000" y="351472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TASK</a:t>
            </a:r>
          </a:p>
        </p:txBody>
      </p:sp>
      <p:sp>
        <p:nvSpPr>
          <p:cNvPr id="22" name="">
            <a:extLst xmlns:a="http://schemas.openxmlformats.org/drawingml/2006/main">
              <a:ext uri="{FF2B5EF4-FFF2-40B4-BE49-F238E27FC236}">
                <a16:creationId xmlns:a16="http://schemas.microsoft.com/office/drawing/2014/main" id="{3FBDB9A7-C1D2-4001-ABEF-8B1FE0A8ED55}"/>
              </a:ext>
            </a:extLst>
          </p:cNvPr>
          <p:cNvSpPr>
            <a:spLocks xmlns:a="http://schemas.openxmlformats.org/drawingml/2006/main" noGrp="1"/>
          </p:cNvSpPr>
          <p:nvPr/>
        </p:nvSpPr>
        <p:spPr>
          <a:xfrm xmlns:a="http://schemas.openxmlformats.org/drawingml/2006/main">
            <a:off x="5467350" y="3514725"/>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TIME WINDOW</a:t>
            </a:r>
          </a:p>
        </p:txBody>
      </p:sp>
      <p:sp>
        <p:nvSpPr>
          <p:cNvPr id="23" name="">
            <a:extLst xmlns:a="http://schemas.openxmlformats.org/drawingml/2006/main">
              <a:ext uri="{FF2B5EF4-FFF2-40B4-BE49-F238E27FC236}">
                <a16:creationId xmlns:a16="http://schemas.microsoft.com/office/drawing/2014/main" id="{38DF43CA-1697-42FE-94CA-3BE9A233D85A}"/>
              </a:ext>
            </a:extLst>
          </p:cNvPr>
          <p:cNvSpPr>
            <a:spLocks xmlns:a="http://schemas.openxmlformats.org/drawingml/2006/main" noGrp="1"/>
          </p:cNvSpPr>
          <p:nvPr/>
        </p:nvSpPr>
        <p:spPr>
          <a:xfrm xmlns:a="http://schemas.openxmlformats.org/drawingml/2006/main">
            <a:off x="6953250" y="3514725"/>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WORKERS</a:t>
            </a:r>
          </a:p>
        </p:txBody>
      </p:sp>
      <p:sp>
        <p:nvSpPr>
          <p:cNvPr id="24" name="">
            <a:extLst xmlns:a="http://schemas.openxmlformats.org/drawingml/2006/main">
              <a:ext uri="{FF2B5EF4-FFF2-40B4-BE49-F238E27FC236}">
                <a16:creationId xmlns:a16="http://schemas.microsoft.com/office/drawing/2014/main" id="{6A32AE64-FB36-481C-9499-C63CC5875A63}"/>
              </a:ext>
            </a:extLst>
          </p:cNvPr>
          <p:cNvSpPr>
            <a:spLocks xmlns:a="http://schemas.openxmlformats.org/drawingml/2006/main" noGrp="1"/>
          </p:cNvSpPr>
          <p:nvPr/>
        </p:nvSpPr>
        <p:spPr>
          <a:xfrm xmlns:a="http://schemas.openxmlformats.org/drawingml/2006/main">
            <a:off x="8324850" y="3514725"/>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EQUIPMENT</a:t>
            </a:r>
          </a:p>
        </p:txBody>
      </p:sp>
      <p:sp>
        <p:nvSpPr>
          <p:cNvPr id="25" name="">
            <a:extLst xmlns:a="http://schemas.openxmlformats.org/drawingml/2006/main">
              <a:ext uri="{FF2B5EF4-FFF2-40B4-BE49-F238E27FC236}">
                <a16:creationId xmlns:a16="http://schemas.microsoft.com/office/drawing/2014/main" id="{43CC2A81-5C18-4C72-B863-D6C4A57C2351}"/>
              </a:ext>
            </a:extLst>
          </p:cNvPr>
          <p:cNvSpPr>
            <a:spLocks xmlns:a="http://schemas.openxmlformats.org/drawingml/2006/main" noGrp="1"/>
          </p:cNvSpPr>
          <p:nvPr/>
        </p:nvSpPr>
        <p:spPr>
          <a:xfrm xmlns:a="http://schemas.openxmlformats.org/drawingml/2006/main">
            <a:off x="9667875" y="3514725"/>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STATUS</a:t>
            </a:r>
          </a:p>
        </p:txBody>
      </p:sp>
      <p:sp>
        <p:nvSpPr>
          <p:cNvPr id="26" name="">
            <a:extLst xmlns:a="http://schemas.openxmlformats.org/drawingml/2006/main">
              <a:ext uri="{FF2B5EF4-FFF2-40B4-BE49-F238E27FC236}">
                <a16:creationId xmlns:a16="http://schemas.microsoft.com/office/drawing/2014/main" id="{408ABFD0-850F-4251-86B7-221F9AF23A41}"/>
              </a:ext>
            </a:extLst>
          </p:cNvPr>
          <p:cNvSpPr>
            <a:spLocks xmlns:a="http://schemas.openxmlformats.org/drawingml/2006/main" noGrp="1"/>
          </p:cNvSpPr>
          <p:nvPr/>
        </p:nvSpPr>
        <p:spPr>
          <a:xfrm xmlns:a="http://schemas.openxmlformats.org/drawingml/2006/main">
            <a:off x="3009900" y="3810000"/>
            <a:ext cx="7962900"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0F23E51-FBE3-4A7E-894F-EE4C9291E256}"/>
              </a:ext>
            </a:extLst>
          </p:cNvPr>
          <p:cNvSpPr>
            <a:spLocks xmlns:a="http://schemas.openxmlformats.org/drawingml/2006/main" noGrp="1"/>
          </p:cNvSpPr>
          <p:nvPr/>
        </p:nvSpPr>
        <p:spPr>
          <a:xfrm xmlns:a="http://schemas.openxmlformats.org/drawingml/2006/main">
            <a:off x="3048000" y="390525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5231F"/>
                </a:solidFill>
                <a:latin typeface="Arial"/>
                <a:ea typeface="Arial"/>
                <a:cs typeface="Arial"/>
              </a:defRPr>
            </a:defPPr>
          </a:lstStyle>
          <a:p xmlns:a="http://schemas.openxmlformats.org/drawingml/2006/main">
            <a:pPr algn="l">
              <a:defRPr sz="1050" b="1">
                <a:solidFill>
                  <a:srgbClr val="15231F"/>
                </a:solidFill>
                <a:latin typeface="Arial"/>
                <a:ea typeface="Arial"/>
                <a:cs typeface="Arial"/>
              </a:defRPr>
            </a:pPr>
            <a:r>
              <a:rPr sz="1050" b="1">
                <a:solidFill>
                  <a:srgbClr val="15231F"/>
                </a:solidFill>
                <a:latin typeface="Arial"/>
                <a:ea typeface="Arial"/>
                <a:cs typeface="Arial"/>
              </a:rPr>
              <a:t>WO-104  Gasket repair</a:t>
            </a:r>
          </a:p>
        </p:txBody>
      </p:sp>
      <p:sp>
        <p:nvSpPr>
          <p:cNvPr id="28" name="">
            <a:extLst xmlns:a="http://schemas.openxmlformats.org/drawingml/2006/main">
              <a:ext uri="{FF2B5EF4-FFF2-40B4-BE49-F238E27FC236}">
                <a16:creationId xmlns:a16="http://schemas.microsoft.com/office/drawing/2014/main" id="{DD6CCF28-7B10-4C82-9418-4B087F73CD90}"/>
              </a:ext>
            </a:extLst>
          </p:cNvPr>
          <p:cNvSpPr>
            <a:spLocks xmlns:a="http://schemas.openxmlformats.org/drawingml/2006/main" noGrp="1"/>
          </p:cNvSpPr>
          <p:nvPr/>
        </p:nvSpPr>
        <p:spPr>
          <a:xfrm xmlns:a="http://schemas.openxmlformats.org/drawingml/2006/main">
            <a:off x="5467350" y="39052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06:00–09:00</a:t>
            </a:r>
          </a:p>
        </p:txBody>
      </p:sp>
      <p:sp>
        <p:nvSpPr>
          <p:cNvPr id="29" name="">
            <a:extLst xmlns:a="http://schemas.openxmlformats.org/drawingml/2006/main">
              <a:ext uri="{FF2B5EF4-FFF2-40B4-BE49-F238E27FC236}">
                <a16:creationId xmlns:a16="http://schemas.microsoft.com/office/drawing/2014/main" id="{EBAF6A05-2B24-4791-9773-C7F435A907E1}"/>
              </a:ext>
            </a:extLst>
          </p:cNvPr>
          <p:cNvSpPr>
            <a:spLocks xmlns:a="http://schemas.openxmlformats.org/drawingml/2006/main" noGrp="1"/>
          </p:cNvSpPr>
          <p:nvPr/>
        </p:nvSpPr>
        <p:spPr>
          <a:xfrm xmlns:a="http://schemas.openxmlformats.org/drawingml/2006/main">
            <a:off x="6953250" y="39052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A. Patel, R. Shah</a:t>
            </a:r>
          </a:p>
        </p:txBody>
      </p:sp>
      <p:sp>
        <p:nvSpPr>
          <p:cNvPr id="30" name="">
            <a:extLst xmlns:a="http://schemas.openxmlformats.org/drawingml/2006/main">
              <a:ext uri="{FF2B5EF4-FFF2-40B4-BE49-F238E27FC236}">
                <a16:creationId xmlns:a16="http://schemas.microsoft.com/office/drawing/2014/main" id="{845DF08F-2C23-473F-8A80-68BE6FEBC655}"/>
              </a:ext>
            </a:extLst>
          </p:cNvPr>
          <p:cNvSpPr>
            <a:spLocks xmlns:a="http://schemas.openxmlformats.org/drawingml/2006/main" noGrp="1"/>
          </p:cNvSpPr>
          <p:nvPr/>
        </p:nvSpPr>
        <p:spPr>
          <a:xfrm xmlns:a="http://schemas.openxmlformats.org/drawingml/2006/main">
            <a:off x="8324850" y="39052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Crane 01</a:t>
            </a:r>
          </a:p>
        </p:txBody>
      </p:sp>
      <p:sp>
        <p:nvSpPr>
          <p:cNvPr id="31" name="">
            <a:extLst xmlns:a="http://schemas.openxmlformats.org/drawingml/2006/main">
              <a:ext uri="{FF2B5EF4-FFF2-40B4-BE49-F238E27FC236}">
                <a16:creationId xmlns:a16="http://schemas.microsoft.com/office/drawing/2014/main" id="{BEF96E47-DF08-4460-8E61-A1A28BAAC5D6}"/>
              </a:ext>
            </a:extLst>
          </p:cNvPr>
          <p:cNvSpPr>
            <a:spLocks xmlns:a="http://schemas.openxmlformats.org/drawingml/2006/main" noGrp="1"/>
          </p:cNvSpPr>
          <p:nvPr/>
        </p:nvSpPr>
        <p:spPr>
          <a:xfrm xmlns:a="http://schemas.openxmlformats.org/drawingml/2006/main">
            <a:off x="9667875" y="39052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Scheduled</a:t>
            </a:r>
          </a:p>
        </p:txBody>
      </p:sp>
      <p:sp>
        <p:nvSpPr>
          <p:cNvPr id="32" name="">
            <a:extLst xmlns:a="http://schemas.openxmlformats.org/drawingml/2006/main">
              <a:ext uri="{FF2B5EF4-FFF2-40B4-BE49-F238E27FC236}">
                <a16:creationId xmlns:a16="http://schemas.microsoft.com/office/drawing/2014/main" id="{7CF8B673-9A93-444F-8862-F9228AE9A57D}"/>
              </a:ext>
            </a:extLst>
          </p:cNvPr>
          <p:cNvSpPr>
            <a:spLocks xmlns:a="http://schemas.openxmlformats.org/drawingml/2006/main" noGrp="1"/>
          </p:cNvSpPr>
          <p:nvPr/>
        </p:nvSpPr>
        <p:spPr>
          <a:xfrm xmlns:a="http://schemas.openxmlformats.org/drawingml/2006/main">
            <a:off x="3009900" y="4362450"/>
            <a:ext cx="7962900" cy="9525"/>
          </a:xfrm>
          <a:prstGeom xmlns:a="http://schemas.openxmlformats.org/drawingml/2006/main" prst="rect">
            <a:avLst/>
          </a:prstGeom>
          <a:solidFill xmlns:a="http://schemas.openxmlformats.org/drawingml/2006/main">
            <a:srgbClr val="E9EEE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8A02DD7-82A3-482A-928B-2A6E57E90815}"/>
              </a:ext>
            </a:extLst>
          </p:cNvPr>
          <p:cNvSpPr>
            <a:spLocks xmlns:a="http://schemas.openxmlformats.org/drawingml/2006/main" noGrp="1"/>
          </p:cNvSpPr>
          <p:nvPr/>
        </p:nvSpPr>
        <p:spPr>
          <a:xfrm xmlns:a="http://schemas.openxmlformats.org/drawingml/2006/main">
            <a:off x="3048000" y="441960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5231F"/>
                </a:solidFill>
                <a:latin typeface="Arial"/>
                <a:ea typeface="Arial"/>
                <a:cs typeface="Arial"/>
              </a:defRPr>
            </a:defPPr>
          </a:lstStyle>
          <a:p xmlns:a="http://schemas.openxmlformats.org/drawingml/2006/main">
            <a:pPr algn="l">
              <a:defRPr sz="1050" b="1">
                <a:solidFill>
                  <a:srgbClr val="15231F"/>
                </a:solidFill>
                <a:latin typeface="Arial"/>
                <a:ea typeface="Arial"/>
                <a:cs typeface="Arial"/>
              </a:defRPr>
            </a:pPr>
            <a:r>
              <a:rPr sz="1050" b="1">
                <a:solidFill>
                  <a:srgbClr val="15231F"/>
                </a:solidFill>
                <a:latin typeface="Arial"/>
                <a:ea typeface="Arial"/>
                <a:cs typeface="Arial"/>
              </a:rPr>
              <a:t>WO-105  Site inspection</a:t>
            </a:r>
          </a:p>
        </p:txBody>
      </p:sp>
      <p:sp>
        <p:nvSpPr>
          <p:cNvPr id="34" name="">
            <a:extLst xmlns:a="http://schemas.openxmlformats.org/drawingml/2006/main">
              <a:ext uri="{FF2B5EF4-FFF2-40B4-BE49-F238E27FC236}">
                <a16:creationId xmlns:a16="http://schemas.microsoft.com/office/drawing/2014/main" id="{EA5E9495-8EA4-4FD2-9508-EBB8FA8B441D}"/>
              </a:ext>
            </a:extLst>
          </p:cNvPr>
          <p:cNvSpPr>
            <a:spLocks xmlns:a="http://schemas.openxmlformats.org/drawingml/2006/main" noGrp="1"/>
          </p:cNvSpPr>
          <p:nvPr/>
        </p:nvSpPr>
        <p:spPr>
          <a:xfrm xmlns:a="http://schemas.openxmlformats.org/drawingml/2006/main">
            <a:off x="5467350" y="441960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09:30–10:15</a:t>
            </a:r>
          </a:p>
        </p:txBody>
      </p:sp>
      <p:sp>
        <p:nvSpPr>
          <p:cNvPr id="35" name="">
            <a:extLst xmlns:a="http://schemas.openxmlformats.org/drawingml/2006/main">
              <a:ext uri="{FF2B5EF4-FFF2-40B4-BE49-F238E27FC236}">
                <a16:creationId xmlns:a16="http://schemas.microsoft.com/office/drawing/2014/main" id="{A1859021-D1DC-44DE-8D50-FF094CDA0F4F}"/>
              </a:ext>
            </a:extLst>
          </p:cNvPr>
          <p:cNvSpPr>
            <a:spLocks xmlns:a="http://schemas.openxmlformats.org/drawingml/2006/main" noGrp="1"/>
          </p:cNvSpPr>
          <p:nvPr/>
        </p:nvSpPr>
        <p:spPr>
          <a:xfrm xmlns:a="http://schemas.openxmlformats.org/drawingml/2006/main">
            <a:off x="6953250" y="441960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M. Desai</a:t>
            </a:r>
          </a:p>
        </p:txBody>
      </p:sp>
      <p:sp>
        <p:nvSpPr>
          <p:cNvPr id="36" name="">
            <a:extLst xmlns:a="http://schemas.openxmlformats.org/drawingml/2006/main">
              <a:ext uri="{FF2B5EF4-FFF2-40B4-BE49-F238E27FC236}">
                <a16:creationId xmlns:a16="http://schemas.microsoft.com/office/drawing/2014/main" id="{9B0F9F19-CCA9-407A-A9F3-7D1090FA6CF9}"/>
              </a:ext>
            </a:extLst>
          </p:cNvPr>
          <p:cNvSpPr>
            <a:spLocks xmlns:a="http://schemas.openxmlformats.org/drawingml/2006/main" noGrp="1"/>
          </p:cNvSpPr>
          <p:nvPr/>
        </p:nvSpPr>
        <p:spPr>
          <a:xfrm xmlns:a="http://schemas.openxmlformats.org/drawingml/2006/main">
            <a:off x="8324850" y="441960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a:t>
            </a:r>
          </a:p>
        </p:txBody>
      </p:sp>
      <p:sp>
        <p:nvSpPr>
          <p:cNvPr id="37" name="">
            <a:extLst xmlns:a="http://schemas.openxmlformats.org/drawingml/2006/main">
              <a:ext uri="{FF2B5EF4-FFF2-40B4-BE49-F238E27FC236}">
                <a16:creationId xmlns:a16="http://schemas.microsoft.com/office/drawing/2014/main" id="{5C5F1516-14CB-476E-9B0E-0FBFC29BB7F4}"/>
              </a:ext>
            </a:extLst>
          </p:cNvPr>
          <p:cNvSpPr>
            <a:spLocks xmlns:a="http://schemas.openxmlformats.org/drawingml/2006/main" noGrp="1"/>
          </p:cNvSpPr>
          <p:nvPr/>
        </p:nvSpPr>
        <p:spPr>
          <a:xfrm xmlns:a="http://schemas.openxmlformats.org/drawingml/2006/main">
            <a:off x="9667875" y="441960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Scheduled</a:t>
            </a:r>
          </a:p>
        </p:txBody>
      </p:sp>
      <p:sp>
        <p:nvSpPr>
          <p:cNvPr id="38" name="">
            <a:extLst xmlns:a="http://schemas.openxmlformats.org/drawingml/2006/main">
              <a:ext uri="{FF2B5EF4-FFF2-40B4-BE49-F238E27FC236}">
                <a16:creationId xmlns:a16="http://schemas.microsoft.com/office/drawing/2014/main" id="{75A660B7-2459-46CF-B438-87C71ABCBD4E}"/>
              </a:ext>
            </a:extLst>
          </p:cNvPr>
          <p:cNvSpPr>
            <a:spLocks xmlns:a="http://schemas.openxmlformats.org/drawingml/2006/main" noGrp="1"/>
          </p:cNvSpPr>
          <p:nvPr/>
        </p:nvSpPr>
        <p:spPr>
          <a:xfrm xmlns:a="http://schemas.openxmlformats.org/drawingml/2006/main">
            <a:off x="3009900" y="4876800"/>
            <a:ext cx="7962900" cy="9525"/>
          </a:xfrm>
          <a:prstGeom xmlns:a="http://schemas.openxmlformats.org/drawingml/2006/main" prst="rect">
            <a:avLst/>
          </a:prstGeom>
          <a:solidFill xmlns:a="http://schemas.openxmlformats.org/drawingml/2006/main">
            <a:srgbClr val="E9EEEA"/>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6DCFF11D-CF38-4723-B675-F85B6FF109A4}"/>
              </a:ext>
            </a:extLst>
          </p:cNvPr>
          <p:cNvSpPr>
            <a:spLocks xmlns:a="http://schemas.openxmlformats.org/drawingml/2006/main" noGrp="1"/>
          </p:cNvSpPr>
          <p:nvPr/>
        </p:nvSpPr>
        <p:spPr>
          <a:xfrm xmlns:a="http://schemas.openxmlformats.org/drawingml/2006/main">
            <a:off x="3048000" y="493395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5231F"/>
                </a:solidFill>
                <a:latin typeface="Arial"/>
                <a:ea typeface="Arial"/>
                <a:cs typeface="Arial"/>
              </a:defRPr>
            </a:defPPr>
          </a:lstStyle>
          <a:p xmlns:a="http://schemas.openxmlformats.org/drawingml/2006/main">
            <a:pPr algn="l">
              <a:defRPr sz="1050" b="1">
                <a:solidFill>
                  <a:srgbClr val="15231F"/>
                </a:solidFill>
                <a:latin typeface="Arial"/>
                <a:ea typeface="Arial"/>
                <a:cs typeface="Arial"/>
              </a:defRPr>
            </a:pPr>
            <a:r>
              <a:rPr sz="1050" b="1">
                <a:solidFill>
                  <a:srgbClr val="15231F"/>
                </a:solidFill>
                <a:latin typeface="Arial"/>
                <a:ea typeface="Arial"/>
                <a:cs typeface="Arial"/>
              </a:rPr>
              <a:t>WO-106  Pump service</a:t>
            </a:r>
          </a:p>
        </p:txBody>
      </p:sp>
      <p:sp>
        <p:nvSpPr>
          <p:cNvPr id="40" name="">
            <a:extLst xmlns:a="http://schemas.openxmlformats.org/drawingml/2006/main">
              <a:ext uri="{FF2B5EF4-FFF2-40B4-BE49-F238E27FC236}">
                <a16:creationId xmlns:a16="http://schemas.microsoft.com/office/drawing/2014/main" id="{4B032F23-9273-414A-857E-B51F457AA00C}"/>
              </a:ext>
            </a:extLst>
          </p:cNvPr>
          <p:cNvSpPr>
            <a:spLocks xmlns:a="http://schemas.openxmlformats.org/drawingml/2006/main" noGrp="1"/>
          </p:cNvSpPr>
          <p:nvPr/>
        </p:nvSpPr>
        <p:spPr>
          <a:xfrm xmlns:a="http://schemas.openxmlformats.org/drawingml/2006/main">
            <a:off x="5467350" y="49339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10:30–13:00</a:t>
            </a:r>
          </a:p>
        </p:txBody>
      </p:sp>
      <p:sp>
        <p:nvSpPr>
          <p:cNvPr id="41" name="">
            <a:extLst xmlns:a="http://schemas.openxmlformats.org/drawingml/2006/main">
              <a:ext uri="{FF2B5EF4-FFF2-40B4-BE49-F238E27FC236}">
                <a16:creationId xmlns:a16="http://schemas.microsoft.com/office/drawing/2014/main" id="{70394F42-4AFB-42D5-9A25-3BF174D9EF05}"/>
              </a:ext>
            </a:extLst>
          </p:cNvPr>
          <p:cNvSpPr>
            <a:spLocks xmlns:a="http://schemas.openxmlformats.org/drawingml/2006/main" noGrp="1"/>
          </p:cNvSpPr>
          <p:nvPr/>
        </p:nvSpPr>
        <p:spPr>
          <a:xfrm xmlns:a="http://schemas.openxmlformats.org/drawingml/2006/main">
            <a:off x="6953250" y="49339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N. Joshi, A. Rao</a:t>
            </a:r>
          </a:p>
        </p:txBody>
      </p:sp>
      <p:sp>
        <p:nvSpPr>
          <p:cNvPr id="42" name="">
            <a:extLst xmlns:a="http://schemas.openxmlformats.org/drawingml/2006/main">
              <a:ext uri="{FF2B5EF4-FFF2-40B4-BE49-F238E27FC236}">
                <a16:creationId xmlns:a16="http://schemas.microsoft.com/office/drawing/2014/main" id="{CB510D27-7DBB-4FC2-90BD-A9BE6C6D6CF5}"/>
              </a:ext>
            </a:extLst>
          </p:cNvPr>
          <p:cNvSpPr>
            <a:spLocks xmlns:a="http://schemas.openxmlformats.org/drawingml/2006/main" noGrp="1"/>
          </p:cNvSpPr>
          <p:nvPr/>
        </p:nvSpPr>
        <p:spPr>
          <a:xfrm xmlns:a="http://schemas.openxmlformats.org/drawingml/2006/main">
            <a:off x="8324850" y="49339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Pump kit 02</a:t>
            </a:r>
          </a:p>
        </p:txBody>
      </p:sp>
      <p:sp>
        <p:nvSpPr>
          <p:cNvPr id="43" name="">
            <a:extLst xmlns:a="http://schemas.openxmlformats.org/drawingml/2006/main">
              <a:ext uri="{FF2B5EF4-FFF2-40B4-BE49-F238E27FC236}">
                <a16:creationId xmlns:a16="http://schemas.microsoft.com/office/drawing/2014/main" id="{4EB24831-8C02-4AD4-89CC-0977F86EE6E2}"/>
              </a:ext>
            </a:extLst>
          </p:cNvPr>
          <p:cNvSpPr>
            <a:spLocks xmlns:a="http://schemas.openxmlformats.org/drawingml/2006/main" noGrp="1"/>
          </p:cNvSpPr>
          <p:nvPr/>
        </p:nvSpPr>
        <p:spPr>
          <a:xfrm xmlns:a="http://schemas.openxmlformats.org/drawingml/2006/main">
            <a:off x="9667875" y="49339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Scheduled</a:t>
            </a:r>
          </a:p>
        </p:txBody>
      </p:sp>
      <p:sp>
        <p:nvSpPr>
          <p:cNvPr id="44" name="">
            <a:extLst xmlns:a="http://schemas.openxmlformats.org/drawingml/2006/main">
              <a:ext uri="{FF2B5EF4-FFF2-40B4-BE49-F238E27FC236}">
                <a16:creationId xmlns:a16="http://schemas.microsoft.com/office/drawing/2014/main" id="{BA57A3C9-84F3-400C-A0DD-D8A8F43227B2}"/>
              </a:ext>
            </a:extLst>
          </p:cNvPr>
          <p:cNvSpPr>
            <a:spLocks xmlns:a="http://schemas.openxmlformats.org/drawingml/2006/main" noGrp="1"/>
          </p:cNvSpPr>
          <p:nvPr/>
        </p:nvSpPr>
        <p:spPr>
          <a:xfrm xmlns:a="http://schemas.openxmlformats.org/drawingml/2006/main">
            <a:off x="3009900" y="5391150"/>
            <a:ext cx="7962900" cy="9525"/>
          </a:xfrm>
          <a:prstGeom xmlns:a="http://schemas.openxmlformats.org/drawingml/2006/main" prst="rect">
            <a:avLst/>
          </a:prstGeom>
          <a:solidFill xmlns:a="http://schemas.openxmlformats.org/drawingml/2006/main">
            <a:srgbClr val="E9EEEA"/>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0BF5B343-B25A-461A-B694-DB60AC1470C7}"/>
              </a:ext>
            </a:extLst>
          </p:cNvPr>
          <p:cNvSpPr>
            <a:spLocks xmlns:a="http://schemas.openxmlformats.org/drawingml/2006/main" noGrp="1"/>
          </p:cNvSpPr>
          <p:nvPr/>
        </p:nvSpPr>
        <p:spPr>
          <a:xfrm xmlns:a="http://schemas.openxmlformats.org/drawingml/2006/main">
            <a:off x="781050" y="54768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Placement</a:t>
            </a:r>
          </a:p>
        </p:txBody>
      </p:sp>
      <p:sp>
        <p:nvSpPr>
          <p:cNvPr id="46" name="">
            <a:extLst xmlns:a="http://schemas.openxmlformats.org/drawingml/2006/main">
              <a:ext uri="{FF2B5EF4-FFF2-40B4-BE49-F238E27FC236}">
                <a16:creationId xmlns:a16="http://schemas.microsoft.com/office/drawing/2014/main" id="{4121EACE-B6EE-4ACB-9D00-7E9CDFC31C3E}"/>
              </a:ext>
            </a:extLst>
          </p:cNvPr>
          <p:cNvSpPr>
            <a:spLocks xmlns:a="http://schemas.openxmlformats.org/drawingml/2006/main" noGrp="1"/>
          </p:cNvSpPr>
          <p:nvPr/>
        </p:nvSpPr>
        <p:spPr>
          <a:xfrm xmlns:a="http://schemas.openxmlformats.org/drawingml/2006/main">
            <a:off x="2095500" y="54102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5231F"/>
                </a:solidFill>
                <a:latin typeface="Arial"/>
                <a:ea typeface="Arial"/>
                <a:cs typeface="Arial"/>
              </a:defRPr>
            </a:defPPr>
          </a:lstStyle>
          <a:p xmlns:a="http://schemas.openxmlformats.org/drawingml/2006/main">
            <a:pPr algn="l">
              <a:defRPr sz="1350" b="0">
                <a:solidFill>
                  <a:srgbClr val="15231F"/>
                </a:solidFill>
                <a:latin typeface="Arial"/>
                <a:ea typeface="Arial"/>
                <a:cs typeface="Arial"/>
              </a:defRPr>
            </a:pPr>
            <a:r>
              <a:rPr sz="1350" b="0">
                <a:solidFill>
                  <a:srgbClr val="15231F"/>
                </a:solidFill>
                <a:latin typeface="Arial"/>
                <a:ea typeface="Arial"/>
                <a:cs typeface="Arial"/>
              </a:rPr>
              <a:t>Add a Baseline section to the existing Safety &amp; Scheduling workflow; make it available from the run detail.</a:t>
            </a:r>
          </a:p>
        </p:txBody>
      </p:sp>
    </p:spTree>
    <p:extLst>
      <p:ext uri="{BB962C8B-B14F-4D97-AF65-F5344CB8AC3E}">
        <p14:creationId xmlns:p14="http://schemas.microsoft.com/office/powerpoint/2010/main" val="1807127486"/>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4A7EBDEB-1E4D-48A1-ADC0-87142DC39A2A}"/>
              </a:ext>
            </a:extLst>
          </p:cNvPr>
          <p:cNvSpPr>
            <a:spLocks xmlns:a="http://schemas.openxmlformats.org/drawingml/2006/main" noGrp="1"/>
          </p:cNvSpPr>
          <p:nvPr/>
        </p:nvSpPr>
        <p:spPr>
          <a:xfrm xmlns:a="http://schemas.openxmlformats.org/drawingml/2006/main">
            <a:off x="647700" y="3619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EMPLOYEE SCHEDULE</a:t>
            </a:r>
          </a:p>
        </p:txBody>
      </p:sp>
      <p:sp>
        <p:nvSpPr>
          <p:cNvPr id="2" name="">
            <a:extLst xmlns:a="http://schemas.openxmlformats.org/drawingml/2006/main">
              <a:ext uri="{FF2B5EF4-FFF2-40B4-BE49-F238E27FC236}">
                <a16:creationId xmlns:a16="http://schemas.microsoft.com/office/drawing/2014/main" id="{F2EDFF56-29AC-4963-B050-E77662397B71}"/>
              </a:ext>
            </a:extLst>
          </p:cNvPr>
          <p:cNvSpPr>
            <a:spLocks xmlns:a="http://schemas.openxmlformats.org/drawingml/2006/main" noGrp="1"/>
          </p:cNvSpPr>
          <p:nvPr/>
        </p:nvSpPr>
        <p:spPr>
          <a:xfrm xmlns:a="http://schemas.openxmlformats.org/drawingml/2006/main">
            <a:off x="647700" y="666750"/>
            <a:ext cx="10715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450" b="1">
                <a:solidFill>
                  <a:srgbClr val="15231F"/>
                </a:solidFill>
                <a:latin typeface="Arial"/>
                <a:ea typeface="Arial"/>
                <a:cs typeface="Arial"/>
              </a:defRPr>
            </a:defPPr>
          </a:lstStyle>
          <a:p xmlns:a="http://schemas.openxmlformats.org/drawingml/2006/main">
            <a:pPr algn="l">
              <a:defRPr sz="3450" b="1">
                <a:solidFill>
                  <a:srgbClr val="15231F"/>
                </a:solidFill>
                <a:latin typeface="Arial"/>
                <a:ea typeface="Arial"/>
                <a:cs typeface="Arial"/>
              </a:defRPr>
            </a:pPr>
            <a:r>
              <a:rPr sz="3450" b="1">
                <a:solidFill>
                  <a:srgbClr val="15231F"/>
                </a:solidFill>
                <a:latin typeface="Arial"/>
                <a:ea typeface="Arial"/>
                <a:cs typeface="Arial"/>
              </a:rPr>
              <a:t>Employee schedule: work and safety guidance</a:t>
            </a:r>
          </a:p>
        </p:txBody>
      </p:sp>
      <p:sp>
        <p:nvSpPr>
          <p:cNvPr id="3" name="">
            <a:extLst xmlns:a="http://schemas.openxmlformats.org/drawingml/2006/main">
              <a:ext uri="{FF2B5EF4-FFF2-40B4-BE49-F238E27FC236}">
                <a16:creationId xmlns:a16="http://schemas.microsoft.com/office/drawing/2014/main" id="{E885D9D5-5BFA-449A-8B6F-D55613F23570}"/>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7E74ADA-1930-4035-83F4-8F27C02A22C6}"/>
              </a:ext>
            </a:extLst>
          </p:cNvPr>
          <p:cNvSpPr>
            <a:spLocks xmlns:a="http://schemas.openxmlformats.org/drawingml/2006/main" noGrp="1"/>
          </p:cNvSpPr>
          <p:nvPr/>
        </p:nvSpPr>
        <p:spPr>
          <a:xfrm xmlns:a="http://schemas.openxmlformats.org/drawingml/2006/main">
            <a:off x="647700" y="63341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CLIMATE-RESILIENT WORKFORCE PLANNING</a:t>
            </a:r>
          </a:p>
        </p:txBody>
      </p:sp>
      <p:sp>
        <p:nvSpPr>
          <p:cNvPr id="5" name="">
            <a:extLst xmlns:a="http://schemas.openxmlformats.org/drawingml/2006/main">
              <a:ext uri="{FF2B5EF4-FFF2-40B4-BE49-F238E27FC236}">
                <a16:creationId xmlns:a16="http://schemas.microsoft.com/office/drawing/2014/main" id="{022D1E18-6C40-432D-B912-9F9B6CB28228}"/>
              </a:ext>
            </a:extLst>
          </p:cNvPr>
          <p:cNvSpPr>
            <a:spLocks xmlns:a="http://schemas.openxmlformats.org/drawingml/2006/main" noGrp="1"/>
          </p:cNvSpPr>
          <p:nvPr/>
        </p:nvSpPr>
        <p:spPr>
          <a:xfrm xmlns:a="http://schemas.openxmlformats.org/drawingml/2006/main">
            <a:off x="11096625" y="62865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86861"/>
                </a:solidFill>
                <a:latin typeface="Arial"/>
                <a:ea typeface="Arial"/>
                <a:cs typeface="Arial"/>
              </a:defRPr>
            </a:defPPr>
          </a:lstStyle>
          <a:p xmlns:a="http://schemas.openxmlformats.org/drawingml/2006/main">
            <a:pPr algn="r">
              <a:defRPr sz="1050" b="1">
                <a:solidFill>
                  <a:srgbClr val="586861"/>
                </a:solidFill>
                <a:latin typeface="Arial"/>
                <a:ea typeface="Arial"/>
                <a:cs typeface="Arial"/>
              </a:defRPr>
            </a:pPr>
            <a:r>
              <a:rPr sz="1050" b="1">
                <a:solidFill>
                  <a:srgbClr val="586861"/>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B2C0521A-D28C-43E9-9855-398CCC319A12}"/>
              </a:ext>
            </a:extLst>
          </p:cNvPr>
          <p:cNvSpPr>
            <a:spLocks xmlns:a="http://schemas.openxmlformats.org/drawingml/2006/main" noGrp="1"/>
          </p:cNvSpPr>
          <p:nvPr/>
        </p:nvSpPr>
        <p:spPr>
          <a:xfrm xmlns:a="http://schemas.openxmlformats.org/drawingml/2006/main">
            <a:off x="742950" y="1552575"/>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00" b="1">
                <a:solidFill>
                  <a:srgbClr val="15231F"/>
                </a:solidFill>
                <a:latin typeface="Arial"/>
                <a:ea typeface="Arial"/>
                <a:cs typeface="Arial"/>
              </a:defRPr>
            </a:defPPr>
          </a:lstStyle>
          <a:p xmlns:a="http://schemas.openxmlformats.org/drawingml/2006/main">
            <a:pPr algn="l">
              <a:defRPr sz="2100" b="1">
                <a:solidFill>
                  <a:srgbClr val="15231F"/>
                </a:solidFill>
                <a:latin typeface="Arial"/>
                <a:ea typeface="Arial"/>
                <a:cs typeface="Arial"/>
              </a:defRPr>
            </a:pPr>
            <a:r>
              <a:rPr sz="2100" b="1">
                <a:solidFill>
                  <a:srgbClr val="15231F"/>
                </a:solidFill>
                <a:latin typeface="Arial"/>
                <a:ea typeface="Arial"/>
                <a:cs typeface="Arial"/>
              </a:rPr>
              <a:t>Today • Tuesday, 13 October</a:t>
            </a:r>
          </a:p>
        </p:txBody>
      </p:sp>
      <p:sp>
        <p:nvSpPr>
          <p:cNvPr id="7" name="">
            <a:extLst xmlns:a="http://schemas.openxmlformats.org/drawingml/2006/main">
              <a:ext uri="{FF2B5EF4-FFF2-40B4-BE49-F238E27FC236}">
                <a16:creationId xmlns:a16="http://schemas.microsoft.com/office/drawing/2014/main" id="{917970EB-2315-4215-8222-0A063AECA217}"/>
              </a:ext>
            </a:extLst>
          </p:cNvPr>
          <p:cNvSpPr>
            <a:spLocks xmlns:a="http://schemas.openxmlformats.org/drawingml/2006/main" noGrp="1"/>
          </p:cNvSpPr>
          <p:nvPr/>
        </p:nvSpPr>
        <p:spPr>
          <a:xfrm xmlns:a="http://schemas.openxmlformats.org/drawingml/2006/main">
            <a:off x="742950" y="19431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Vadodara Plant</a:t>
            </a:r>
          </a:p>
        </p:txBody>
      </p:sp>
      <p:sp>
        <p:nvSpPr>
          <p:cNvPr id="8" name="">
            <a:extLst xmlns:a="http://schemas.openxmlformats.org/drawingml/2006/main">
              <a:ext uri="{FF2B5EF4-FFF2-40B4-BE49-F238E27FC236}">
                <a16:creationId xmlns:a16="http://schemas.microsoft.com/office/drawing/2014/main" id="{4D2BDDFE-85C1-4124-854A-47C44F486CF3}"/>
              </a:ext>
            </a:extLst>
          </p:cNvPr>
          <p:cNvSpPr>
            <a:spLocks xmlns:a="http://schemas.openxmlformats.org/drawingml/2006/main" noGrp="1"/>
          </p:cNvSpPr>
          <p:nvPr/>
        </p:nvSpPr>
        <p:spPr>
          <a:xfrm xmlns:a="http://schemas.openxmlformats.org/drawingml/2006/main">
            <a:off x="1047750" y="2647950"/>
            <a:ext cx="28575" cy="2667000"/>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6F6B4A1-A8B0-401C-A892-3E6B8EE6F517}"/>
              </a:ext>
            </a:extLst>
          </p:cNvPr>
          <p:cNvSpPr>
            <a:spLocks xmlns:a="http://schemas.openxmlformats.org/drawingml/2006/main" noGrp="1"/>
          </p:cNvSpPr>
          <p:nvPr/>
        </p:nvSpPr>
        <p:spPr>
          <a:xfrm xmlns:a="http://schemas.openxmlformats.org/drawingml/2006/main">
            <a:off x="923925" y="2781300"/>
            <a:ext cx="266700" cy="266700"/>
          </a:xfrm>
          <a:prstGeom xmlns:a="http://schemas.openxmlformats.org/drawingml/2006/main" prst="roundRect">
            <a:avLst>
              <a:gd name="adj" fmla="val 50000"/>
            </a:avLst>
          </a:prstGeom>
          <a:solidFill xmlns:a="http://schemas.openxmlformats.org/drawingml/2006/main">
            <a:srgbClr val="176B5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E5E8417-8DCC-4CDB-B31A-0C83283AC1AA}"/>
              </a:ext>
            </a:extLst>
          </p:cNvPr>
          <p:cNvSpPr>
            <a:spLocks xmlns:a="http://schemas.openxmlformats.org/drawingml/2006/main" noGrp="1"/>
          </p:cNvSpPr>
          <p:nvPr/>
        </p:nvSpPr>
        <p:spPr>
          <a:xfrm xmlns:a="http://schemas.openxmlformats.org/drawingml/2006/main">
            <a:off x="1524000" y="2590800"/>
            <a:ext cx="6762750" cy="800100"/>
          </a:xfrm>
          <a:prstGeom xmlns:a="http://schemas.openxmlformats.org/drawingml/2006/main" prst="roundRect">
            <a:avLst>
              <a:gd name="adj" fmla="val 11905"/>
            </a:avLst>
          </a:prstGeom>
          <a:solidFill xmlns:a="http://schemas.openxmlformats.org/drawingml/2006/main">
            <a:srgbClr val="E4EFE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87F0156-320E-4CC6-A3A9-0E77D21DAF06}"/>
              </a:ext>
            </a:extLst>
          </p:cNvPr>
          <p:cNvSpPr>
            <a:spLocks xmlns:a="http://schemas.openxmlformats.org/drawingml/2006/main" noGrp="1"/>
          </p:cNvSpPr>
          <p:nvPr/>
        </p:nvSpPr>
        <p:spPr>
          <a:xfrm xmlns:a="http://schemas.openxmlformats.org/drawingml/2006/main">
            <a:off x="1714500" y="2686050"/>
            <a:ext cx="1352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176B55"/>
                </a:solidFill>
                <a:latin typeface="Arial"/>
                <a:ea typeface="Arial"/>
                <a:cs typeface="Arial"/>
              </a:defRPr>
            </a:defPPr>
          </a:lstStyle>
          <a:p xmlns:a="http://schemas.openxmlformats.org/drawingml/2006/main">
            <a:pPr algn="l">
              <a:defRPr sz="1125" b="1">
                <a:solidFill>
                  <a:srgbClr val="176B55"/>
                </a:solidFill>
                <a:latin typeface="Arial"/>
                <a:ea typeface="Arial"/>
                <a:cs typeface="Arial"/>
              </a:defRPr>
            </a:pPr>
            <a:r>
              <a:rPr sz="1125" b="1">
                <a:solidFill>
                  <a:srgbClr val="176B55"/>
                </a:solidFill>
                <a:latin typeface="Arial"/>
                <a:ea typeface="Arial"/>
                <a:cs typeface="Arial"/>
              </a:rPr>
              <a:t>06:00–09:00</a:t>
            </a:r>
          </a:p>
        </p:txBody>
      </p:sp>
      <p:sp>
        <p:nvSpPr>
          <p:cNvPr id="12" name="">
            <a:extLst xmlns:a="http://schemas.openxmlformats.org/drawingml/2006/main">
              <a:ext uri="{FF2B5EF4-FFF2-40B4-BE49-F238E27FC236}">
                <a16:creationId xmlns:a16="http://schemas.microsoft.com/office/drawing/2014/main" id="{4479B422-109C-4899-94FB-72591B18AFF9}"/>
              </a:ext>
            </a:extLst>
          </p:cNvPr>
          <p:cNvSpPr>
            <a:spLocks xmlns:a="http://schemas.openxmlformats.org/drawingml/2006/main" noGrp="1"/>
          </p:cNvSpPr>
          <p:nvPr/>
        </p:nvSpPr>
        <p:spPr>
          <a:xfrm xmlns:a="http://schemas.openxmlformats.org/drawingml/2006/main">
            <a:off x="3124200" y="26670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5231F"/>
                </a:solidFill>
                <a:latin typeface="Arial"/>
                <a:ea typeface="Arial"/>
                <a:cs typeface="Arial"/>
              </a:defRPr>
            </a:defPPr>
          </a:lstStyle>
          <a:p xmlns:a="http://schemas.openxmlformats.org/drawingml/2006/main">
            <a:pPr algn="l">
              <a:defRPr sz="1500" b="1">
                <a:solidFill>
                  <a:srgbClr val="15231F"/>
                </a:solidFill>
                <a:latin typeface="Arial"/>
                <a:ea typeface="Arial"/>
                <a:cs typeface="Arial"/>
              </a:defRPr>
            </a:pPr>
            <a:r>
              <a:rPr sz="1500" b="1">
                <a:solidFill>
                  <a:srgbClr val="15231F"/>
                </a:solidFill>
                <a:latin typeface="Arial"/>
                <a:ea typeface="Arial"/>
                <a:cs typeface="Arial"/>
              </a:rPr>
              <a:t>Replace heat-exchanger gasket</a:t>
            </a:r>
          </a:p>
        </p:txBody>
      </p:sp>
      <p:sp>
        <p:nvSpPr>
          <p:cNvPr id="13" name="">
            <a:extLst xmlns:a="http://schemas.openxmlformats.org/drawingml/2006/main">
              <a:ext uri="{FF2B5EF4-FFF2-40B4-BE49-F238E27FC236}">
                <a16:creationId xmlns:a16="http://schemas.microsoft.com/office/drawing/2014/main" id="{671DC6BA-BAF3-4D5F-A5BF-ACFC56DDCFE8}"/>
              </a:ext>
            </a:extLst>
          </p:cNvPr>
          <p:cNvSpPr>
            <a:spLocks xmlns:a="http://schemas.openxmlformats.org/drawingml/2006/main" noGrp="1"/>
          </p:cNvSpPr>
          <p:nvPr/>
        </p:nvSpPr>
        <p:spPr>
          <a:xfrm xmlns:a="http://schemas.openxmlformats.org/drawingml/2006/main">
            <a:off x="3124200" y="299085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86861"/>
                </a:solidFill>
                <a:latin typeface="Arial"/>
                <a:ea typeface="Arial"/>
                <a:cs typeface="Arial"/>
              </a:defRPr>
            </a:defPPr>
          </a:lstStyle>
          <a:p xmlns:a="http://schemas.openxmlformats.org/drawingml/2006/main">
            <a:pPr algn="l">
              <a:defRPr sz="1125" b="0">
                <a:solidFill>
                  <a:srgbClr val="586861"/>
                </a:solidFill>
                <a:latin typeface="Arial"/>
                <a:ea typeface="Arial"/>
                <a:cs typeface="Arial"/>
              </a:defRPr>
            </a:pPr>
            <a:r>
              <a:rPr sz="1125" b="0">
                <a:solidFill>
                  <a:srgbClr val="586861"/>
                </a:solidFill>
                <a:latin typeface="Arial"/>
                <a:ea typeface="Arial"/>
                <a:cs typeface="Arial"/>
              </a:rPr>
              <a:t>Unit 2 • With R. Shah • Crane 01</a:t>
            </a:r>
          </a:p>
        </p:txBody>
      </p:sp>
      <p:sp>
        <p:nvSpPr>
          <p:cNvPr id="14" name="">
            <a:extLst xmlns:a="http://schemas.openxmlformats.org/drawingml/2006/main">
              <a:ext uri="{FF2B5EF4-FFF2-40B4-BE49-F238E27FC236}">
                <a16:creationId xmlns:a16="http://schemas.microsoft.com/office/drawing/2014/main" id="{5B4F7B80-6E23-45A0-A58E-B5FAF427ECC8}"/>
              </a:ext>
            </a:extLst>
          </p:cNvPr>
          <p:cNvSpPr>
            <a:spLocks xmlns:a="http://schemas.openxmlformats.org/drawingml/2006/main" noGrp="1"/>
          </p:cNvSpPr>
          <p:nvPr/>
        </p:nvSpPr>
        <p:spPr>
          <a:xfrm xmlns:a="http://schemas.openxmlformats.org/drawingml/2006/main">
            <a:off x="923925" y="3829050"/>
            <a:ext cx="266700" cy="266700"/>
          </a:xfrm>
          <a:prstGeom xmlns:a="http://schemas.openxmlformats.org/drawingml/2006/main" prst="roundRect">
            <a:avLst>
              <a:gd name="adj" fmla="val 50000"/>
            </a:avLst>
          </a:prstGeom>
          <a:solidFill xmlns:a="http://schemas.openxmlformats.org/drawingml/2006/main">
            <a:srgbClr val="D7912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7A0073C-093B-403B-AC98-ABF2388DD82A}"/>
              </a:ext>
            </a:extLst>
          </p:cNvPr>
          <p:cNvSpPr>
            <a:spLocks xmlns:a="http://schemas.openxmlformats.org/drawingml/2006/main" noGrp="1"/>
          </p:cNvSpPr>
          <p:nvPr/>
        </p:nvSpPr>
        <p:spPr>
          <a:xfrm xmlns:a="http://schemas.openxmlformats.org/drawingml/2006/main">
            <a:off x="1524000" y="3638550"/>
            <a:ext cx="6762750" cy="800100"/>
          </a:xfrm>
          <a:prstGeom xmlns:a="http://schemas.openxmlformats.org/drawingml/2006/main" prst="roundRect">
            <a:avLst>
              <a:gd name="adj" fmla="val 11905"/>
            </a:avLst>
          </a:prstGeom>
          <a:solidFill xmlns:a="http://schemas.openxmlformats.org/drawingml/2006/main">
            <a:srgbClr val="FFF1D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9C00635-BDD0-47AB-9074-9D9512FBB0D1}"/>
              </a:ext>
            </a:extLst>
          </p:cNvPr>
          <p:cNvSpPr>
            <a:spLocks xmlns:a="http://schemas.openxmlformats.org/drawingml/2006/main" noGrp="1"/>
          </p:cNvSpPr>
          <p:nvPr/>
        </p:nvSpPr>
        <p:spPr>
          <a:xfrm xmlns:a="http://schemas.openxmlformats.org/drawingml/2006/main">
            <a:off x="1714500" y="3733800"/>
            <a:ext cx="1352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D7912B"/>
                </a:solidFill>
                <a:latin typeface="Arial"/>
                <a:ea typeface="Arial"/>
                <a:cs typeface="Arial"/>
              </a:defRPr>
            </a:defPPr>
          </a:lstStyle>
          <a:p xmlns:a="http://schemas.openxmlformats.org/drawingml/2006/main">
            <a:pPr algn="l">
              <a:defRPr sz="1125" b="1">
                <a:solidFill>
                  <a:srgbClr val="D7912B"/>
                </a:solidFill>
                <a:latin typeface="Arial"/>
                <a:ea typeface="Arial"/>
                <a:cs typeface="Arial"/>
              </a:defRPr>
            </a:pPr>
            <a:r>
              <a:rPr sz="1125" b="1">
                <a:solidFill>
                  <a:srgbClr val="D7912B"/>
                </a:solidFill>
                <a:latin typeface="Arial"/>
                <a:ea typeface="Arial"/>
                <a:cs typeface="Arial"/>
              </a:rPr>
              <a:t>09:00–09:20</a:t>
            </a:r>
          </a:p>
        </p:txBody>
      </p:sp>
      <p:sp>
        <p:nvSpPr>
          <p:cNvPr id="17" name="">
            <a:extLst xmlns:a="http://schemas.openxmlformats.org/drawingml/2006/main">
              <a:ext uri="{FF2B5EF4-FFF2-40B4-BE49-F238E27FC236}">
                <a16:creationId xmlns:a16="http://schemas.microsoft.com/office/drawing/2014/main" id="{0E116B4C-3E24-45B5-85EF-B379B444B355}"/>
              </a:ext>
            </a:extLst>
          </p:cNvPr>
          <p:cNvSpPr>
            <a:spLocks xmlns:a="http://schemas.openxmlformats.org/drawingml/2006/main" noGrp="1"/>
          </p:cNvSpPr>
          <p:nvPr/>
        </p:nvSpPr>
        <p:spPr>
          <a:xfrm xmlns:a="http://schemas.openxmlformats.org/drawingml/2006/main">
            <a:off x="3124200" y="371475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5231F"/>
                </a:solidFill>
                <a:latin typeface="Arial"/>
                <a:ea typeface="Arial"/>
                <a:cs typeface="Arial"/>
              </a:defRPr>
            </a:defPPr>
          </a:lstStyle>
          <a:p xmlns:a="http://schemas.openxmlformats.org/drawingml/2006/main">
            <a:pPr algn="l">
              <a:defRPr sz="1500" b="1">
                <a:solidFill>
                  <a:srgbClr val="15231F"/>
                </a:solidFill>
                <a:latin typeface="Arial"/>
                <a:ea typeface="Arial"/>
                <a:cs typeface="Arial"/>
              </a:defRPr>
            </a:pPr>
            <a:r>
              <a:rPr sz="1500" b="1">
                <a:solidFill>
                  <a:srgbClr val="15231F"/>
                </a:solidFill>
                <a:latin typeface="Arial"/>
                <a:ea typeface="Arial"/>
                <a:cs typeface="Arial"/>
              </a:rPr>
              <a:t>Cooling break</a:t>
            </a:r>
          </a:p>
        </p:txBody>
      </p:sp>
      <p:sp>
        <p:nvSpPr>
          <p:cNvPr id="18" name="">
            <a:extLst xmlns:a="http://schemas.openxmlformats.org/drawingml/2006/main">
              <a:ext uri="{FF2B5EF4-FFF2-40B4-BE49-F238E27FC236}">
                <a16:creationId xmlns:a16="http://schemas.microsoft.com/office/drawing/2014/main" id="{559AC871-B6C2-447E-8A62-801099A3B412}"/>
              </a:ext>
            </a:extLst>
          </p:cNvPr>
          <p:cNvSpPr>
            <a:spLocks xmlns:a="http://schemas.openxmlformats.org/drawingml/2006/main" noGrp="1"/>
          </p:cNvSpPr>
          <p:nvPr/>
        </p:nvSpPr>
        <p:spPr>
          <a:xfrm xmlns:a="http://schemas.openxmlformats.org/drawingml/2006/main">
            <a:off x="3124200" y="403860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86861"/>
                </a:solidFill>
                <a:latin typeface="Arial"/>
                <a:ea typeface="Arial"/>
                <a:cs typeface="Arial"/>
              </a:defRPr>
            </a:defPPr>
          </a:lstStyle>
          <a:p xmlns:a="http://schemas.openxmlformats.org/drawingml/2006/main">
            <a:pPr algn="l">
              <a:defRPr sz="1125" b="0">
                <a:solidFill>
                  <a:srgbClr val="586861"/>
                </a:solidFill>
                <a:latin typeface="Arial"/>
                <a:ea typeface="Arial"/>
                <a:cs typeface="Arial"/>
              </a:defRPr>
            </a:pPr>
            <a:r>
              <a:rPr sz="1125" b="0">
                <a:solidFill>
                  <a:srgbClr val="586861"/>
                </a:solidFill>
                <a:latin typeface="Arial"/>
                <a:ea typeface="Arial"/>
                <a:cs typeface="Arial"/>
              </a:rPr>
              <a:t>Shaded rest area • Hydrate</a:t>
            </a:r>
          </a:p>
        </p:txBody>
      </p:sp>
      <p:sp>
        <p:nvSpPr>
          <p:cNvPr id="19" name="">
            <a:extLst xmlns:a="http://schemas.openxmlformats.org/drawingml/2006/main">
              <a:ext uri="{FF2B5EF4-FFF2-40B4-BE49-F238E27FC236}">
                <a16:creationId xmlns:a16="http://schemas.microsoft.com/office/drawing/2014/main" id="{D75BDE38-CC8B-42AA-A391-71A04B85B842}"/>
              </a:ext>
            </a:extLst>
          </p:cNvPr>
          <p:cNvSpPr>
            <a:spLocks xmlns:a="http://schemas.openxmlformats.org/drawingml/2006/main" noGrp="1"/>
          </p:cNvSpPr>
          <p:nvPr/>
        </p:nvSpPr>
        <p:spPr>
          <a:xfrm xmlns:a="http://schemas.openxmlformats.org/drawingml/2006/main">
            <a:off x="923925" y="4686300"/>
            <a:ext cx="266700" cy="266700"/>
          </a:xfrm>
          <a:prstGeom xmlns:a="http://schemas.openxmlformats.org/drawingml/2006/main" prst="roundRect">
            <a:avLst>
              <a:gd name="adj" fmla="val 50000"/>
            </a:avLst>
          </a:prstGeom>
          <a:solidFill xmlns:a="http://schemas.openxmlformats.org/drawingml/2006/main">
            <a:srgbClr val="49799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2424FC8-3299-48A1-8D85-4C94CA42B0F8}"/>
              </a:ext>
            </a:extLst>
          </p:cNvPr>
          <p:cNvSpPr>
            <a:spLocks xmlns:a="http://schemas.openxmlformats.org/drawingml/2006/main" noGrp="1"/>
          </p:cNvSpPr>
          <p:nvPr/>
        </p:nvSpPr>
        <p:spPr>
          <a:xfrm xmlns:a="http://schemas.openxmlformats.org/drawingml/2006/main">
            <a:off x="1524000" y="4495800"/>
            <a:ext cx="6762750" cy="800100"/>
          </a:xfrm>
          <a:prstGeom xmlns:a="http://schemas.openxmlformats.org/drawingml/2006/main" prst="roundRect">
            <a:avLst>
              <a:gd name="adj" fmla="val 11905"/>
            </a:avLst>
          </a:prstGeom>
          <a:solidFill xmlns:a="http://schemas.openxmlformats.org/drawingml/2006/main">
            <a:srgbClr val="EAF0F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474B3AD-7C81-420C-BE4E-4FC20849E94D}"/>
              </a:ext>
            </a:extLst>
          </p:cNvPr>
          <p:cNvSpPr>
            <a:spLocks xmlns:a="http://schemas.openxmlformats.org/drawingml/2006/main" noGrp="1"/>
          </p:cNvSpPr>
          <p:nvPr/>
        </p:nvSpPr>
        <p:spPr>
          <a:xfrm xmlns:a="http://schemas.openxmlformats.org/drawingml/2006/main">
            <a:off x="1714500" y="4591050"/>
            <a:ext cx="1352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49799A"/>
                </a:solidFill>
                <a:latin typeface="Arial"/>
                <a:ea typeface="Arial"/>
                <a:cs typeface="Arial"/>
              </a:defRPr>
            </a:defPPr>
          </a:lstStyle>
          <a:p xmlns:a="http://schemas.openxmlformats.org/drawingml/2006/main">
            <a:pPr algn="l">
              <a:defRPr sz="1125" b="1">
                <a:solidFill>
                  <a:srgbClr val="49799A"/>
                </a:solidFill>
                <a:latin typeface="Arial"/>
                <a:ea typeface="Arial"/>
                <a:cs typeface="Arial"/>
              </a:defRPr>
            </a:pPr>
            <a:r>
              <a:rPr sz="1125" b="1">
                <a:solidFill>
                  <a:srgbClr val="49799A"/>
                </a:solidFill>
                <a:latin typeface="Arial"/>
                <a:ea typeface="Arial"/>
                <a:cs typeface="Arial"/>
              </a:rPr>
              <a:t>09:30–10:15</a:t>
            </a:r>
          </a:p>
        </p:txBody>
      </p:sp>
      <p:sp>
        <p:nvSpPr>
          <p:cNvPr id="22" name="">
            <a:extLst xmlns:a="http://schemas.openxmlformats.org/drawingml/2006/main">
              <a:ext uri="{FF2B5EF4-FFF2-40B4-BE49-F238E27FC236}">
                <a16:creationId xmlns:a16="http://schemas.microsoft.com/office/drawing/2014/main" id="{935E65F1-31D5-4499-B71D-5D6C7E2EA08F}"/>
              </a:ext>
            </a:extLst>
          </p:cNvPr>
          <p:cNvSpPr>
            <a:spLocks xmlns:a="http://schemas.openxmlformats.org/drawingml/2006/main" noGrp="1"/>
          </p:cNvSpPr>
          <p:nvPr/>
        </p:nvSpPr>
        <p:spPr>
          <a:xfrm xmlns:a="http://schemas.openxmlformats.org/drawingml/2006/main">
            <a:off x="3124200" y="45720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5231F"/>
                </a:solidFill>
                <a:latin typeface="Arial"/>
                <a:ea typeface="Arial"/>
                <a:cs typeface="Arial"/>
              </a:defRPr>
            </a:defPPr>
          </a:lstStyle>
          <a:p xmlns:a="http://schemas.openxmlformats.org/drawingml/2006/main">
            <a:pPr algn="l">
              <a:defRPr sz="1500" b="1">
                <a:solidFill>
                  <a:srgbClr val="15231F"/>
                </a:solidFill>
                <a:latin typeface="Arial"/>
                <a:ea typeface="Arial"/>
                <a:cs typeface="Arial"/>
              </a:defRPr>
            </a:pPr>
            <a:r>
              <a:rPr sz="1500" b="1">
                <a:solidFill>
                  <a:srgbClr val="15231F"/>
                </a:solidFill>
                <a:latin typeface="Arial"/>
                <a:ea typeface="Arial"/>
                <a:cs typeface="Arial"/>
              </a:rPr>
              <a:t>Site housekeeping inspection</a:t>
            </a:r>
          </a:p>
        </p:txBody>
      </p:sp>
      <p:sp>
        <p:nvSpPr>
          <p:cNvPr id="23" name="">
            <a:extLst xmlns:a="http://schemas.openxmlformats.org/drawingml/2006/main">
              <a:ext uri="{FF2B5EF4-FFF2-40B4-BE49-F238E27FC236}">
                <a16:creationId xmlns:a16="http://schemas.microsoft.com/office/drawing/2014/main" id="{DCAD1034-DB72-41CD-A3BF-96E962635F65}"/>
              </a:ext>
            </a:extLst>
          </p:cNvPr>
          <p:cNvSpPr>
            <a:spLocks xmlns:a="http://schemas.openxmlformats.org/drawingml/2006/main" noGrp="1"/>
          </p:cNvSpPr>
          <p:nvPr/>
        </p:nvSpPr>
        <p:spPr>
          <a:xfrm xmlns:a="http://schemas.openxmlformats.org/drawingml/2006/main">
            <a:off x="3124200" y="489585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86861"/>
                </a:solidFill>
                <a:latin typeface="Arial"/>
                <a:ea typeface="Arial"/>
                <a:cs typeface="Arial"/>
              </a:defRPr>
            </a:defPPr>
          </a:lstStyle>
          <a:p xmlns:a="http://schemas.openxmlformats.org/drawingml/2006/main">
            <a:pPr algn="l">
              <a:defRPr sz="1125" b="0">
                <a:solidFill>
                  <a:srgbClr val="586861"/>
                </a:solidFill>
                <a:latin typeface="Arial"/>
                <a:ea typeface="Arial"/>
                <a:cs typeface="Arial"/>
              </a:defRPr>
            </a:pPr>
            <a:r>
              <a:rPr sz="1125" b="0">
                <a:solidFill>
                  <a:srgbClr val="586861"/>
                </a:solidFill>
                <a:latin typeface="Arial"/>
                <a:ea typeface="Arial"/>
                <a:cs typeface="Arial"/>
              </a:rPr>
              <a:t>North process area • Solo task</a:t>
            </a:r>
          </a:p>
        </p:txBody>
      </p:sp>
      <p:sp>
        <p:nvSpPr>
          <p:cNvPr id="24" name="">
            <a:extLst xmlns:a="http://schemas.openxmlformats.org/drawingml/2006/main">
              <a:ext uri="{FF2B5EF4-FFF2-40B4-BE49-F238E27FC236}">
                <a16:creationId xmlns:a16="http://schemas.microsoft.com/office/drawing/2014/main" id="{7EEC217F-75F7-40FE-A996-9AB4AA1443C1}"/>
              </a:ext>
            </a:extLst>
          </p:cNvPr>
          <p:cNvSpPr>
            <a:spLocks xmlns:a="http://schemas.openxmlformats.org/drawingml/2006/main" noGrp="1"/>
          </p:cNvSpPr>
          <p:nvPr/>
        </p:nvSpPr>
        <p:spPr>
          <a:xfrm xmlns:a="http://schemas.openxmlformats.org/drawingml/2006/main">
            <a:off x="8705850" y="2381250"/>
            <a:ext cx="2647950" cy="2914650"/>
          </a:xfrm>
          <a:prstGeom xmlns:a="http://schemas.openxmlformats.org/drawingml/2006/main" prst="roundRect">
            <a:avLst>
              <a:gd name="adj" fmla="val 4317"/>
            </a:avLst>
          </a:prstGeom>
          <a:solidFill xmlns:a="http://schemas.openxmlformats.org/drawingml/2006/main">
            <a:srgbClr val="17342C"/>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782B422-26A9-4D57-B838-3637BA2D76F7}"/>
              </a:ext>
            </a:extLst>
          </p:cNvPr>
          <p:cNvSpPr>
            <a:spLocks xmlns:a="http://schemas.openxmlformats.org/drawingml/2006/main" noGrp="1"/>
          </p:cNvSpPr>
          <p:nvPr/>
        </p:nvSpPr>
        <p:spPr>
          <a:xfrm xmlns:a="http://schemas.openxmlformats.org/drawingml/2006/main">
            <a:off x="8972550" y="26289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D9E8B7"/>
                </a:solidFill>
                <a:latin typeface="Arial"/>
                <a:ea typeface="Arial"/>
                <a:cs typeface="Arial"/>
              </a:defRPr>
            </a:defPPr>
          </a:lstStyle>
          <a:p xmlns:a="http://schemas.openxmlformats.org/drawingml/2006/main">
            <a:pPr algn="l">
              <a:defRPr sz="1050" b="1">
                <a:solidFill>
                  <a:srgbClr val="D9E8B7"/>
                </a:solidFill>
                <a:latin typeface="Arial"/>
                <a:ea typeface="Arial"/>
                <a:cs typeface="Arial"/>
              </a:defRPr>
            </a:pPr>
            <a:r>
              <a:rPr sz="1050" b="1">
                <a:solidFill>
                  <a:srgbClr val="D9E8B7"/>
                </a:solidFill>
                <a:latin typeface="Arial"/>
                <a:ea typeface="Arial"/>
                <a:cs typeface="Arial"/>
              </a:rPr>
              <a:t>SAFETY DETAILS</a:t>
            </a:r>
          </a:p>
        </p:txBody>
      </p:sp>
      <p:sp>
        <p:nvSpPr>
          <p:cNvPr id="26" name="">
            <a:extLst xmlns:a="http://schemas.openxmlformats.org/drawingml/2006/main">
              <a:ext uri="{FF2B5EF4-FFF2-40B4-BE49-F238E27FC236}">
                <a16:creationId xmlns:a16="http://schemas.microsoft.com/office/drawing/2014/main" id="{95FA45FE-3881-4304-BF94-E2185EEFA3B6}"/>
              </a:ext>
            </a:extLst>
          </p:cNvPr>
          <p:cNvSpPr>
            <a:spLocks xmlns:a="http://schemas.openxmlformats.org/drawingml/2006/main" noGrp="1"/>
          </p:cNvSpPr>
          <p:nvPr/>
        </p:nvSpPr>
        <p:spPr>
          <a:xfrm xmlns:a="http://schemas.openxmlformats.org/drawingml/2006/main">
            <a:off x="8972550" y="30384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rial"/>
                <a:ea typeface="Arial"/>
                <a:cs typeface="Arial"/>
              </a:defRPr>
            </a:defPPr>
          </a:lstStyle>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Heat guidance</a:t>
            </a:r>
          </a:p>
        </p:txBody>
      </p:sp>
      <p:sp>
        <p:nvSpPr>
          <p:cNvPr id="27" name="">
            <a:extLst xmlns:a="http://schemas.openxmlformats.org/drawingml/2006/main">
              <a:ext uri="{FF2B5EF4-FFF2-40B4-BE49-F238E27FC236}">
                <a16:creationId xmlns:a16="http://schemas.microsoft.com/office/drawing/2014/main" id="{BB3F7E7D-C241-4125-87B7-226CE672C421}"/>
              </a:ext>
            </a:extLst>
          </p:cNvPr>
          <p:cNvSpPr>
            <a:spLocks xmlns:a="http://schemas.openxmlformats.org/drawingml/2006/main" noGrp="1"/>
          </p:cNvSpPr>
          <p:nvPr/>
        </p:nvSpPr>
        <p:spPr>
          <a:xfrm xmlns:a="http://schemas.openxmlformats.org/drawingml/2006/main">
            <a:off x="8972550" y="3400425"/>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DDE9E1"/>
                </a:solidFill>
                <a:latin typeface="Arial"/>
                <a:ea typeface="Arial"/>
                <a:cs typeface="Arial"/>
              </a:defRPr>
            </a:defPPr>
          </a:lstStyle>
          <a:p xmlns:a="http://schemas.openxmlformats.org/drawingml/2006/main">
            <a:pPr algn="l">
              <a:defRPr sz="1275" b="0">
                <a:solidFill>
                  <a:srgbClr val="DDE9E1"/>
                </a:solidFill>
                <a:latin typeface="Arial"/>
                <a:ea typeface="Arial"/>
                <a:cs typeface="Arial"/>
              </a:defRPr>
            </a:pPr>
            <a:r>
              <a:rPr sz="1275" b="0">
                <a:solidFill>
                  <a:srgbClr val="DDE9E1"/>
                </a:solidFill>
                <a:latin typeface="Arial"/>
                <a:ea typeface="Arial"/>
                <a:cs typeface="Arial"/>
              </a:rPr>
              <a:t>Cooling break scheduled</a:t>
            </a:r>
          </a:p>
          <a:p xmlns:a="http://schemas.openxmlformats.org/drawingml/2006/main">
            <a:pPr algn="l">
              <a:defRPr sz="1275" b="0">
                <a:solidFill>
                  <a:srgbClr val="DDE9E1"/>
                </a:solidFill>
                <a:latin typeface="Arial"/>
                <a:ea typeface="Arial"/>
                <a:cs typeface="Arial"/>
              </a:defRPr>
            </a:pPr>
            <a:r>
              <a:rPr sz="1275" b="0">
                <a:solidFill>
                  <a:srgbClr val="DDE9E1"/>
                </a:solidFill>
                <a:latin typeface="Arial"/>
                <a:ea typeface="Arial"/>
                <a:cs typeface="Arial"/>
              </a:rPr>
              <a:t>after the first task.</a:t>
            </a:r>
          </a:p>
        </p:txBody>
      </p:sp>
      <p:sp>
        <p:nvSpPr>
          <p:cNvPr id="28" name="">
            <a:extLst xmlns:a="http://schemas.openxmlformats.org/drawingml/2006/main">
              <a:ext uri="{FF2B5EF4-FFF2-40B4-BE49-F238E27FC236}">
                <a16:creationId xmlns:a16="http://schemas.microsoft.com/office/drawing/2014/main" id="{1139B0AD-C6CB-4F68-B7AA-2A4667B95F43}"/>
              </a:ext>
            </a:extLst>
          </p:cNvPr>
          <p:cNvSpPr>
            <a:spLocks xmlns:a="http://schemas.openxmlformats.org/drawingml/2006/main" noGrp="1"/>
          </p:cNvSpPr>
          <p:nvPr/>
        </p:nvSpPr>
        <p:spPr>
          <a:xfrm xmlns:a="http://schemas.openxmlformats.org/drawingml/2006/main">
            <a:off x="8972550" y="4162425"/>
            <a:ext cx="2076450" cy="9525"/>
          </a:xfrm>
          <a:prstGeom xmlns:a="http://schemas.openxmlformats.org/drawingml/2006/main" prst="rect">
            <a:avLst/>
          </a:prstGeom>
          <a:solidFill xmlns:a="http://schemas.openxmlformats.org/drawingml/2006/main">
            <a:srgbClr val="45645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D56128D-1ED7-45F2-9A49-474EAF7741AA}"/>
              </a:ext>
            </a:extLst>
          </p:cNvPr>
          <p:cNvSpPr>
            <a:spLocks xmlns:a="http://schemas.openxmlformats.org/drawingml/2006/main" noGrp="1"/>
          </p:cNvSpPr>
          <p:nvPr/>
        </p:nvSpPr>
        <p:spPr>
          <a:xfrm xmlns:a="http://schemas.openxmlformats.org/drawingml/2006/main">
            <a:off x="8972550" y="436245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D9E8B7"/>
                </a:solidFill>
                <a:latin typeface="Arial"/>
                <a:ea typeface="Arial"/>
                <a:cs typeface="Arial"/>
              </a:defRPr>
            </a:defPPr>
          </a:lstStyle>
          <a:p xmlns:a="http://schemas.openxmlformats.org/drawingml/2006/main">
            <a:pPr algn="l">
              <a:defRPr sz="1200" b="1">
                <a:solidFill>
                  <a:srgbClr val="D9E8B7"/>
                </a:solidFill>
                <a:latin typeface="Arial"/>
                <a:ea typeface="Arial"/>
                <a:cs typeface="Arial"/>
              </a:defRPr>
            </a:pPr>
            <a:r>
              <a:rPr sz="1200" b="1">
                <a:solidFill>
                  <a:srgbClr val="D9E8B7"/>
                </a:solidFill>
                <a:latin typeface="Arial"/>
                <a:ea typeface="Arial"/>
                <a:cs typeface="Arial"/>
              </a:rPr>
              <a:t>Schedule updated</a:t>
            </a:r>
          </a:p>
        </p:txBody>
      </p:sp>
      <p:sp>
        <p:nvSpPr>
          <p:cNvPr id="30" name="">
            <a:extLst xmlns:a="http://schemas.openxmlformats.org/drawingml/2006/main">
              <a:ext uri="{FF2B5EF4-FFF2-40B4-BE49-F238E27FC236}">
                <a16:creationId xmlns:a16="http://schemas.microsoft.com/office/drawing/2014/main" id="{C4FA3997-594E-4ADC-A05F-5CEA29CF8CBD}"/>
              </a:ext>
            </a:extLst>
          </p:cNvPr>
          <p:cNvSpPr>
            <a:spLocks xmlns:a="http://schemas.openxmlformats.org/drawingml/2006/main" noGrp="1"/>
          </p:cNvSpPr>
          <p:nvPr/>
        </p:nvSpPr>
        <p:spPr>
          <a:xfrm xmlns:a="http://schemas.openxmlformats.org/drawingml/2006/main">
            <a:off x="8972550" y="4676775"/>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DDE9E1"/>
                </a:solidFill>
                <a:latin typeface="Arial"/>
                <a:ea typeface="Arial"/>
                <a:cs typeface="Arial"/>
              </a:defRPr>
            </a:defPPr>
          </a:lstStyle>
          <a:p xmlns:a="http://schemas.openxmlformats.org/drawingml/2006/main">
            <a:pPr algn="l">
              <a:defRPr sz="1125" b="0">
                <a:solidFill>
                  <a:srgbClr val="DDE9E1"/>
                </a:solidFill>
                <a:latin typeface="Arial"/>
                <a:ea typeface="Arial"/>
                <a:cs typeface="Arial"/>
              </a:defRPr>
            </a:pPr>
            <a:r>
              <a:rPr sz="1125" b="0">
                <a:solidFill>
                  <a:srgbClr val="DDE9E1"/>
                </a:solidFill>
                <a:latin typeface="Arial"/>
                <a:ea typeface="Arial"/>
                <a:cs typeface="Arial"/>
              </a:rPr>
              <a:t>Show when the plan changes and who to contact.</a:t>
            </a:r>
          </a:p>
        </p:txBody>
      </p:sp>
      <p:sp>
        <p:nvSpPr>
          <p:cNvPr id="31" name="">
            <a:extLst xmlns:a="http://schemas.openxmlformats.org/drawingml/2006/main">
              <a:ext uri="{FF2B5EF4-FFF2-40B4-BE49-F238E27FC236}">
                <a16:creationId xmlns:a16="http://schemas.microsoft.com/office/drawing/2014/main" id="{FF999A86-AC3E-42CE-AAA4-C97AB9B5C01B}"/>
              </a:ext>
            </a:extLst>
          </p:cNvPr>
          <p:cNvSpPr>
            <a:spLocks xmlns:a="http://schemas.openxmlformats.org/drawingml/2006/main" noGrp="1"/>
          </p:cNvSpPr>
          <p:nvPr/>
        </p:nvSpPr>
        <p:spPr>
          <a:xfrm xmlns:a="http://schemas.openxmlformats.org/drawingml/2006/main">
            <a:off x="762000" y="5667375"/>
            <a:ext cx="10525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The baseline stays in the manager’s planning record; employees receive the active assignment and safety instructions.</a:t>
            </a:r>
          </a:p>
        </p:txBody>
      </p:sp>
    </p:spTree>
    <p:extLst>
      <p:ext uri="{BB962C8B-B14F-4D97-AF65-F5344CB8AC3E}">
        <p14:creationId xmlns:p14="http://schemas.microsoft.com/office/powerpoint/2010/main" val="453719429"/>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99010D8-0BA9-470B-8B26-55D9FA84C180}"/>
              </a:ext>
            </a:extLst>
          </p:cNvPr>
          <p:cNvSpPr>
            <a:spLocks xmlns:a="http://schemas.openxmlformats.org/drawingml/2006/main" noGrp="1"/>
          </p:cNvSpPr>
          <p:nvPr/>
        </p:nvSpPr>
        <p:spPr>
          <a:xfrm xmlns:a="http://schemas.openxmlformats.org/drawingml/2006/main">
            <a:off x="647700" y="3619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PRODUCT PLACEMENT</a:t>
            </a:r>
          </a:p>
        </p:txBody>
      </p:sp>
      <p:sp>
        <p:nvSpPr>
          <p:cNvPr id="2" name="">
            <a:extLst xmlns:a="http://schemas.openxmlformats.org/drawingml/2006/main">
              <a:ext uri="{FF2B5EF4-FFF2-40B4-BE49-F238E27FC236}">
                <a16:creationId xmlns:a16="http://schemas.microsoft.com/office/drawing/2014/main" id="{8F10A70B-D78E-4F02-9FCD-89C28B69DB93}"/>
              </a:ext>
            </a:extLst>
          </p:cNvPr>
          <p:cNvSpPr>
            <a:spLocks xmlns:a="http://schemas.openxmlformats.org/drawingml/2006/main" noGrp="1"/>
          </p:cNvSpPr>
          <p:nvPr/>
        </p:nvSpPr>
        <p:spPr>
          <a:xfrm xmlns:a="http://schemas.openxmlformats.org/drawingml/2006/main">
            <a:off x="647700" y="666750"/>
            <a:ext cx="10715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450" b="1">
                <a:solidFill>
                  <a:srgbClr val="15231F"/>
                </a:solidFill>
                <a:latin typeface="Arial"/>
                <a:ea typeface="Arial"/>
                <a:cs typeface="Arial"/>
              </a:defRPr>
            </a:defPPr>
          </a:lstStyle>
          <a:p xmlns:a="http://schemas.openxmlformats.org/drawingml/2006/main">
            <a:pPr algn="l">
              <a:defRPr sz="3450" b="1">
                <a:solidFill>
                  <a:srgbClr val="15231F"/>
                </a:solidFill>
                <a:latin typeface="Arial"/>
                <a:ea typeface="Arial"/>
                <a:cs typeface="Arial"/>
              </a:defRPr>
            </a:pPr>
            <a:r>
              <a:rPr sz="3450" b="1">
                <a:solidFill>
                  <a:srgbClr val="15231F"/>
                </a:solidFill>
                <a:latin typeface="Arial"/>
                <a:ea typeface="Arial"/>
                <a:cs typeface="Arial"/>
              </a:rPr>
              <a:t>Where the baseline fits across roles</a:t>
            </a:r>
          </a:p>
        </p:txBody>
      </p:sp>
      <p:sp>
        <p:nvSpPr>
          <p:cNvPr id="3" name="">
            <a:extLst xmlns:a="http://schemas.openxmlformats.org/drawingml/2006/main">
              <a:ext uri="{FF2B5EF4-FFF2-40B4-BE49-F238E27FC236}">
                <a16:creationId xmlns:a16="http://schemas.microsoft.com/office/drawing/2014/main" id="{B5FBA891-00DD-4F28-B2CD-C5E7A6B22450}"/>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A480D37-E36F-48F1-AA4E-CB899F225EB6}"/>
              </a:ext>
            </a:extLst>
          </p:cNvPr>
          <p:cNvSpPr>
            <a:spLocks xmlns:a="http://schemas.openxmlformats.org/drawingml/2006/main" noGrp="1"/>
          </p:cNvSpPr>
          <p:nvPr/>
        </p:nvSpPr>
        <p:spPr>
          <a:xfrm xmlns:a="http://schemas.openxmlformats.org/drawingml/2006/main">
            <a:off x="647700" y="63341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CLIMATE-RESILIENT WORKFORCE PLANNING</a:t>
            </a:r>
          </a:p>
        </p:txBody>
      </p:sp>
      <p:sp>
        <p:nvSpPr>
          <p:cNvPr id="5" name="">
            <a:extLst xmlns:a="http://schemas.openxmlformats.org/drawingml/2006/main">
              <a:ext uri="{FF2B5EF4-FFF2-40B4-BE49-F238E27FC236}">
                <a16:creationId xmlns:a16="http://schemas.microsoft.com/office/drawing/2014/main" id="{A31B3A5E-C063-4D1F-91D8-69541C11E834}"/>
              </a:ext>
            </a:extLst>
          </p:cNvPr>
          <p:cNvSpPr>
            <a:spLocks xmlns:a="http://schemas.openxmlformats.org/drawingml/2006/main" noGrp="1"/>
          </p:cNvSpPr>
          <p:nvPr/>
        </p:nvSpPr>
        <p:spPr>
          <a:xfrm xmlns:a="http://schemas.openxmlformats.org/drawingml/2006/main">
            <a:off x="11096625" y="62865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86861"/>
                </a:solidFill>
                <a:latin typeface="Arial"/>
                <a:ea typeface="Arial"/>
                <a:cs typeface="Arial"/>
              </a:defRPr>
            </a:defPPr>
          </a:lstStyle>
          <a:p xmlns:a="http://schemas.openxmlformats.org/drawingml/2006/main">
            <a:pPr algn="r">
              <a:defRPr sz="1050" b="1">
                <a:solidFill>
                  <a:srgbClr val="586861"/>
                </a:solidFill>
                <a:latin typeface="Arial"/>
                <a:ea typeface="Arial"/>
                <a:cs typeface="Arial"/>
              </a:defRPr>
            </a:pPr>
            <a:r>
              <a:rPr sz="1050" b="1">
                <a:solidFill>
                  <a:srgbClr val="586861"/>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4C4BECF0-2C04-4525-9302-C4A27CCE342C}"/>
              </a:ext>
            </a:extLst>
          </p:cNvPr>
          <p:cNvSpPr>
            <a:spLocks xmlns:a="http://schemas.openxmlformats.org/drawingml/2006/main" noGrp="1"/>
          </p:cNvSpPr>
          <p:nvPr/>
        </p:nvSpPr>
        <p:spPr>
          <a:xfrm xmlns:a="http://schemas.openxmlformats.org/drawingml/2006/main">
            <a:off x="809625" y="168592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SUPERVISOR</a:t>
            </a:r>
          </a:p>
        </p:txBody>
      </p:sp>
      <p:sp>
        <p:nvSpPr>
          <p:cNvPr id="7" name="">
            <a:extLst xmlns:a="http://schemas.openxmlformats.org/drawingml/2006/main">
              <a:ext uri="{FF2B5EF4-FFF2-40B4-BE49-F238E27FC236}">
                <a16:creationId xmlns:a16="http://schemas.microsoft.com/office/drawing/2014/main" id="{10634A48-F36F-4C99-9BB3-76AC9813E8CA}"/>
              </a:ext>
            </a:extLst>
          </p:cNvPr>
          <p:cNvSpPr>
            <a:spLocks xmlns:a="http://schemas.openxmlformats.org/drawingml/2006/main" noGrp="1"/>
          </p:cNvSpPr>
          <p:nvPr/>
        </p:nvSpPr>
        <p:spPr>
          <a:xfrm xmlns:a="http://schemas.openxmlformats.org/drawingml/2006/main">
            <a:off x="809625" y="37909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49799A"/>
                </a:solidFill>
                <a:latin typeface="Arial"/>
                <a:ea typeface="Arial"/>
                <a:cs typeface="Arial"/>
              </a:defRPr>
            </a:defPPr>
          </a:lstStyle>
          <a:p xmlns:a="http://schemas.openxmlformats.org/drawingml/2006/main">
            <a:pPr algn="l">
              <a:defRPr sz="1050" b="1">
                <a:solidFill>
                  <a:srgbClr val="49799A"/>
                </a:solidFill>
                <a:latin typeface="Arial"/>
                <a:ea typeface="Arial"/>
                <a:cs typeface="Arial"/>
              </a:defRPr>
            </a:pPr>
            <a:r>
              <a:rPr sz="1050" b="1">
                <a:solidFill>
                  <a:srgbClr val="49799A"/>
                </a:solidFill>
                <a:latin typeface="Arial"/>
                <a:ea typeface="Arial"/>
                <a:cs typeface="Arial"/>
              </a:rPr>
              <a:t>EMPLOYEE</a:t>
            </a:r>
          </a:p>
        </p:txBody>
      </p:sp>
      <p:sp>
        <p:nvSpPr>
          <p:cNvPr id="8" name="">
            <a:extLst xmlns:a="http://schemas.openxmlformats.org/drawingml/2006/main">
              <a:ext uri="{FF2B5EF4-FFF2-40B4-BE49-F238E27FC236}">
                <a16:creationId xmlns:a16="http://schemas.microsoft.com/office/drawing/2014/main" id="{81CC6E23-B3CC-47D3-A6B0-A401C3AE049F}"/>
              </a:ext>
            </a:extLst>
          </p:cNvPr>
          <p:cNvSpPr>
            <a:spLocks xmlns:a="http://schemas.openxmlformats.org/drawingml/2006/main" noGrp="1"/>
          </p:cNvSpPr>
          <p:nvPr/>
        </p:nvSpPr>
        <p:spPr>
          <a:xfrm xmlns:a="http://schemas.openxmlformats.org/drawingml/2006/main">
            <a:off x="762000" y="2057400"/>
            <a:ext cx="3619500" cy="1257300"/>
          </a:xfrm>
          <a:prstGeom xmlns:a="http://schemas.openxmlformats.org/drawingml/2006/main" prst="roundRect">
            <a:avLst>
              <a:gd name="adj" fmla="val 7576"/>
            </a:avLst>
          </a:prstGeom>
          <a:solidFill xmlns:a="http://schemas.openxmlformats.org/drawingml/2006/main">
            <a:srgbClr val="FFFFFF"/>
          </a:solidFill>
          <a:ln xmlns:a="http://schemas.openxmlformats.org/drawingml/2006/main" w="9525">
            <a:solidFill>
              <a:srgbClr val="D8E1DC"/>
            </a:solidFill>
            <a:prstDash val="solid"/>
          </a:ln>
        </p:spPr>
      </p:sp>
      <p:sp>
        <p:nvSpPr>
          <p:cNvPr id="9" name="">
            <a:extLst xmlns:a="http://schemas.openxmlformats.org/drawingml/2006/main">
              <a:ext uri="{FF2B5EF4-FFF2-40B4-BE49-F238E27FC236}">
                <a16:creationId xmlns:a16="http://schemas.microsoft.com/office/drawing/2014/main" id="{B579D828-72EC-4866-B514-BD15911A6EA8}"/>
              </a:ext>
            </a:extLst>
          </p:cNvPr>
          <p:cNvSpPr>
            <a:spLocks xmlns:a="http://schemas.openxmlformats.org/drawingml/2006/main" noGrp="1"/>
          </p:cNvSpPr>
          <p:nvPr/>
        </p:nvSpPr>
        <p:spPr>
          <a:xfrm xmlns:a="http://schemas.openxmlformats.org/drawingml/2006/main">
            <a:off x="1028700" y="2228850"/>
            <a:ext cx="3095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5231F"/>
                </a:solidFill>
                <a:latin typeface="Arial"/>
                <a:ea typeface="Arial"/>
                <a:cs typeface="Arial"/>
              </a:defRPr>
            </a:defPPr>
          </a:lstStyle>
          <a:p xmlns:a="http://schemas.openxmlformats.org/drawingml/2006/main">
            <a:pPr algn="l">
              <a:defRPr sz="1725" b="1">
                <a:solidFill>
                  <a:srgbClr val="15231F"/>
                </a:solidFill>
                <a:latin typeface="Arial"/>
                <a:ea typeface="Arial"/>
                <a:cs typeface="Arial"/>
              </a:defRPr>
            </a:pPr>
            <a:r>
              <a:rPr sz="1725" b="1">
                <a:solidFill>
                  <a:srgbClr val="15231F"/>
                </a:solidFill>
                <a:latin typeface="Arial"/>
                <a:ea typeface="Arial"/>
                <a:cs typeface="Arial"/>
              </a:rPr>
              <a:t>Start planning run</a:t>
            </a:r>
          </a:p>
        </p:txBody>
      </p:sp>
      <p:sp>
        <p:nvSpPr>
          <p:cNvPr id="10" name="">
            <a:extLst xmlns:a="http://schemas.openxmlformats.org/drawingml/2006/main">
              <a:ext uri="{FF2B5EF4-FFF2-40B4-BE49-F238E27FC236}">
                <a16:creationId xmlns:a16="http://schemas.microsoft.com/office/drawing/2014/main" id="{56F9A555-A5B8-4CD5-8B93-CF67AE153FB6}"/>
              </a:ext>
            </a:extLst>
          </p:cNvPr>
          <p:cNvSpPr>
            <a:spLocks xmlns:a="http://schemas.openxmlformats.org/drawingml/2006/main" noGrp="1"/>
          </p:cNvSpPr>
          <p:nvPr/>
        </p:nvSpPr>
        <p:spPr>
          <a:xfrm xmlns:a="http://schemas.openxmlformats.org/drawingml/2006/main">
            <a:off x="1028700" y="264795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Review original assignments and baseline metrics</a:t>
            </a:r>
          </a:p>
        </p:txBody>
      </p:sp>
      <p:sp>
        <p:nvSpPr>
          <p:cNvPr id="11" name="">
            <a:extLst xmlns:a="http://schemas.openxmlformats.org/drawingml/2006/main">
              <a:ext uri="{FF2B5EF4-FFF2-40B4-BE49-F238E27FC236}">
                <a16:creationId xmlns:a16="http://schemas.microsoft.com/office/drawing/2014/main" id="{65EBE967-84AB-4B0C-A4EE-FDD84665FB2F}"/>
              </a:ext>
            </a:extLst>
          </p:cNvPr>
          <p:cNvSpPr>
            <a:spLocks xmlns:a="http://schemas.openxmlformats.org/drawingml/2006/main" noGrp="1"/>
          </p:cNvSpPr>
          <p:nvPr/>
        </p:nvSpPr>
        <p:spPr>
          <a:xfrm xmlns:a="http://schemas.openxmlformats.org/drawingml/2006/main">
            <a:off x="762000" y="4191000"/>
            <a:ext cx="3619500" cy="1257300"/>
          </a:xfrm>
          <a:prstGeom xmlns:a="http://schemas.openxmlformats.org/drawingml/2006/main" prst="roundRect">
            <a:avLst>
              <a:gd name="adj" fmla="val 7576"/>
            </a:avLst>
          </a:prstGeom>
          <a:solidFill xmlns:a="http://schemas.openxmlformats.org/drawingml/2006/main">
            <a:srgbClr val="FFFFFF"/>
          </a:solidFill>
          <a:ln xmlns:a="http://schemas.openxmlformats.org/drawingml/2006/main" w="9525">
            <a:solidFill>
              <a:srgbClr val="D8E1DC"/>
            </a:solidFill>
            <a:prstDash val="solid"/>
          </a:ln>
        </p:spPr>
      </p:sp>
      <p:sp>
        <p:nvSpPr>
          <p:cNvPr id="12" name="">
            <a:extLst xmlns:a="http://schemas.openxmlformats.org/drawingml/2006/main">
              <a:ext uri="{FF2B5EF4-FFF2-40B4-BE49-F238E27FC236}">
                <a16:creationId xmlns:a16="http://schemas.microsoft.com/office/drawing/2014/main" id="{DB5250B4-44D2-4190-9FC3-5C0E5D4DD6E4}"/>
              </a:ext>
            </a:extLst>
          </p:cNvPr>
          <p:cNvSpPr>
            <a:spLocks xmlns:a="http://schemas.openxmlformats.org/drawingml/2006/main" noGrp="1"/>
          </p:cNvSpPr>
          <p:nvPr/>
        </p:nvSpPr>
        <p:spPr>
          <a:xfrm xmlns:a="http://schemas.openxmlformats.org/drawingml/2006/main">
            <a:off x="1028700" y="4352925"/>
            <a:ext cx="3095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5231F"/>
                </a:solidFill>
                <a:latin typeface="Arial"/>
                <a:ea typeface="Arial"/>
                <a:cs typeface="Arial"/>
              </a:defRPr>
            </a:defPPr>
          </a:lstStyle>
          <a:p xmlns:a="http://schemas.openxmlformats.org/drawingml/2006/main">
            <a:pPr algn="l">
              <a:defRPr sz="1725" b="1">
                <a:solidFill>
                  <a:srgbClr val="15231F"/>
                </a:solidFill>
                <a:latin typeface="Arial"/>
                <a:ea typeface="Arial"/>
                <a:cs typeface="Arial"/>
              </a:defRPr>
            </a:pPr>
            <a:r>
              <a:rPr sz="1725" b="1">
                <a:solidFill>
                  <a:srgbClr val="15231F"/>
                </a:solidFill>
                <a:latin typeface="Arial"/>
                <a:ea typeface="Arial"/>
                <a:cs typeface="Arial"/>
              </a:rPr>
              <a:t>My schedule</a:t>
            </a:r>
          </a:p>
        </p:txBody>
      </p:sp>
      <p:sp>
        <p:nvSpPr>
          <p:cNvPr id="13" name="">
            <a:extLst xmlns:a="http://schemas.openxmlformats.org/drawingml/2006/main">
              <a:ext uri="{FF2B5EF4-FFF2-40B4-BE49-F238E27FC236}">
                <a16:creationId xmlns:a16="http://schemas.microsoft.com/office/drawing/2014/main" id="{8C746707-BD9C-4957-AB3A-F6DF528CE6C2}"/>
              </a:ext>
            </a:extLst>
          </p:cNvPr>
          <p:cNvSpPr>
            <a:spLocks xmlns:a="http://schemas.openxmlformats.org/drawingml/2006/main" noGrp="1"/>
          </p:cNvSpPr>
          <p:nvPr/>
        </p:nvSpPr>
        <p:spPr>
          <a:xfrm xmlns:a="http://schemas.openxmlformats.org/drawingml/2006/main">
            <a:off x="1028700" y="4772025"/>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See published tasks, time windows, breaks and safety notes</a:t>
            </a:r>
          </a:p>
        </p:txBody>
      </p:sp>
      <p:sp>
        <p:nvSpPr>
          <p:cNvPr id="14" name="">
            <a:extLst xmlns:a="http://schemas.openxmlformats.org/drawingml/2006/main">
              <a:ext uri="{FF2B5EF4-FFF2-40B4-BE49-F238E27FC236}">
                <a16:creationId xmlns:a16="http://schemas.microsoft.com/office/drawing/2014/main" id="{34AE7304-99FA-4A58-8DEA-09005D58D984}"/>
              </a:ext>
            </a:extLst>
          </p:cNvPr>
          <p:cNvSpPr>
            <a:spLocks xmlns:a="http://schemas.openxmlformats.org/drawingml/2006/main" noGrp="1"/>
          </p:cNvSpPr>
          <p:nvPr/>
        </p:nvSpPr>
        <p:spPr>
          <a:xfrm xmlns:a="http://schemas.openxmlformats.org/drawingml/2006/main">
            <a:off x="4381500" y="2667000"/>
            <a:ext cx="981075" cy="19050"/>
          </a:xfrm>
          <a:prstGeom xmlns:a="http://schemas.openxmlformats.org/drawingml/2006/main" prst="rect">
            <a:avLst/>
          </a:prstGeom>
          <a:solidFill xmlns:a="http://schemas.openxmlformats.org/drawingml/2006/main">
            <a:srgbClr val="176B5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1D59C72-1D6E-40C6-970F-F7ADFC7A4542}"/>
              </a:ext>
            </a:extLst>
          </p:cNvPr>
          <p:cNvSpPr>
            <a:spLocks xmlns:a="http://schemas.openxmlformats.org/drawingml/2006/main" noGrp="1"/>
          </p:cNvSpPr>
          <p:nvPr/>
        </p:nvSpPr>
        <p:spPr>
          <a:xfrm xmlns:a="http://schemas.openxmlformats.org/drawingml/2006/main">
            <a:off x="4953000" y="2457450"/>
            <a:ext cx="28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550" b="1">
                <a:solidFill>
                  <a:srgbClr val="176B55"/>
                </a:solidFill>
                <a:latin typeface="Arial"/>
                <a:ea typeface="Arial"/>
                <a:cs typeface="Arial"/>
              </a:defRPr>
            </a:defPPr>
          </a:lstStyle>
          <a:p xmlns:a="http://schemas.openxmlformats.org/drawingml/2006/main">
            <a:pPr algn="ctr">
              <a:defRPr sz="2550" b="1">
                <a:solidFill>
                  <a:srgbClr val="176B55"/>
                </a:solidFill>
                <a:latin typeface="Arial"/>
                <a:ea typeface="Arial"/>
                <a:cs typeface="Arial"/>
              </a:defRPr>
            </a:pPr>
            <a:r>
              <a:rPr sz="2550" b="1">
                <a:solidFill>
                  <a:srgbClr val="176B55"/>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4F6B8029-4A79-480B-B182-41E18C146AD9}"/>
              </a:ext>
            </a:extLst>
          </p:cNvPr>
          <p:cNvSpPr>
            <a:spLocks xmlns:a="http://schemas.openxmlformats.org/drawingml/2006/main" noGrp="1"/>
          </p:cNvSpPr>
          <p:nvPr/>
        </p:nvSpPr>
        <p:spPr>
          <a:xfrm xmlns:a="http://schemas.openxmlformats.org/drawingml/2006/main">
            <a:off x="4381500" y="4800600"/>
            <a:ext cx="981075" cy="19050"/>
          </a:xfrm>
          <a:prstGeom xmlns:a="http://schemas.openxmlformats.org/drawingml/2006/main" prst="rect">
            <a:avLst/>
          </a:prstGeom>
          <a:solidFill xmlns:a="http://schemas.openxmlformats.org/drawingml/2006/main">
            <a:srgbClr val="49799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A5FC0E6-9C13-4C09-B3FE-498A856CDB4F}"/>
              </a:ext>
            </a:extLst>
          </p:cNvPr>
          <p:cNvSpPr>
            <a:spLocks xmlns:a="http://schemas.openxmlformats.org/drawingml/2006/main" noGrp="1"/>
          </p:cNvSpPr>
          <p:nvPr/>
        </p:nvSpPr>
        <p:spPr>
          <a:xfrm xmlns:a="http://schemas.openxmlformats.org/drawingml/2006/main">
            <a:off x="4953000" y="4591050"/>
            <a:ext cx="28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550" b="1">
                <a:solidFill>
                  <a:srgbClr val="49799A"/>
                </a:solidFill>
                <a:latin typeface="Arial"/>
                <a:ea typeface="Arial"/>
                <a:cs typeface="Arial"/>
              </a:defRPr>
            </a:defPPr>
          </a:lstStyle>
          <a:p xmlns:a="http://schemas.openxmlformats.org/drawingml/2006/main">
            <a:pPr algn="ctr">
              <a:defRPr sz="2550" b="1">
                <a:solidFill>
                  <a:srgbClr val="49799A"/>
                </a:solidFill>
                <a:latin typeface="Arial"/>
                <a:ea typeface="Arial"/>
                <a:cs typeface="Arial"/>
              </a:defRPr>
            </a:pPr>
            <a:r>
              <a:rPr sz="2550" b="1">
                <a:solidFill>
                  <a:srgbClr val="49799A"/>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BC16CCE9-582F-4F49-9954-C855E2B96B11}"/>
              </a:ext>
            </a:extLst>
          </p:cNvPr>
          <p:cNvSpPr>
            <a:spLocks xmlns:a="http://schemas.openxmlformats.org/drawingml/2006/main" noGrp="1"/>
          </p:cNvSpPr>
          <p:nvPr/>
        </p:nvSpPr>
        <p:spPr>
          <a:xfrm xmlns:a="http://schemas.openxmlformats.org/drawingml/2006/main">
            <a:off x="5524500" y="2228850"/>
            <a:ext cx="5715000" cy="2809875"/>
          </a:xfrm>
          <a:prstGeom xmlns:a="http://schemas.openxmlformats.org/drawingml/2006/main" prst="roundRect">
            <a:avLst>
              <a:gd name="adj" fmla="val 4746"/>
            </a:avLst>
          </a:prstGeom>
          <a:solidFill xmlns:a="http://schemas.openxmlformats.org/drawingml/2006/main">
            <a:srgbClr val="E8EEE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51E1E69-AC90-4835-9CE8-EC1519709F70}"/>
              </a:ext>
            </a:extLst>
          </p:cNvPr>
          <p:cNvSpPr>
            <a:spLocks xmlns:a="http://schemas.openxmlformats.org/drawingml/2006/main" noGrp="1"/>
          </p:cNvSpPr>
          <p:nvPr/>
        </p:nvSpPr>
        <p:spPr>
          <a:xfrm xmlns:a="http://schemas.openxmlformats.org/drawingml/2006/main">
            <a:off x="5838825" y="24860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PLANNING RUN RECORD</a:t>
            </a:r>
          </a:p>
        </p:txBody>
      </p:sp>
      <p:sp>
        <p:nvSpPr>
          <p:cNvPr id="20" name="">
            <a:extLst xmlns:a="http://schemas.openxmlformats.org/drawingml/2006/main">
              <a:ext uri="{FF2B5EF4-FFF2-40B4-BE49-F238E27FC236}">
                <a16:creationId xmlns:a16="http://schemas.microsoft.com/office/drawing/2014/main" id="{785C7E1D-A145-44FD-BF18-214E8C4E78B8}"/>
              </a:ext>
            </a:extLst>
          </p:cNvPr>
          <p:cNvSpPr>
            <a:spLocks xmlns:a="http://schemas.openxmlformats.org/drawingml/2006/main" noGrp="1"/>
          </p:cNvSpPr>
          <p:nvPr/>
        </p:nvSpPr>
        <p:spPr>
          <a:xfrm xmlns:a="http://schemas.openxmlformats.org/drawingml/2006/main">
            <a:off x="5838825" y="2876550"/>
            <a:ext cx="4667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5231F"/>
                </a:solidFill>
                <a:latin typeface="Arial"/>
                <a:ea typeface="Arial"/>
                <a:cs typeface="Arial"/>
              </a:defRPr>
            </a:defPPr>
          </a:lstStyle>
          <a:p xmlns:a="http://schemas.openxmlformats.org/drawingml/2006/main">
            <a:pPr algn="l">
              <a:defRPr sz="1650" b="1">
                <a:solidFill>
                  <a:srgbClr val="15231F"/>
                </a:solidFill>
                <a:latin typeface="Arial"/>
                <a:ea typeface="Arial"/>
                <a:cs typeface="Arial"/>
              </a:defRPr>
            </a:pPr>
            <a:r>
              <a:rPr sz="1650" b="1">
                <a:solidFill>
                  <a:srgbClr val="15231F"/>
                </a:solidFill>
                <a:latin typeface="Arial"/>
                <a:ea typeface="Arial"/>
                <a:cs typeface="Arial"/>
              </a:rPr>
              <a:t>Original input dataset</a:t>
            </a:r>
          </a:p>
        </p:txBody>
      </p:sp>
      <p:sp>
        <p:nvSpPr>
          <p:cNvPr id="21" name="">
            <a:extLst xmlns:a="http://schemas.openxmlformats.org/drawingml/2006/main">
              <a:ext uri="{FF2B5EF4-FFF2-40B4-BE49-F238E27FC236}">
                <a16:creationId xmlns:a16="http://schemas.microsoft.com/office/drawing/2014/main" id="{A78FC708-44C4-4D0C-9026-3E9E93892B43}"/>
              </a:ext>
            </a:extLst>
          </p:cNvPr>
          <p:cNvSpPr>
            <a:spLocks xmlns:a="http://schemas.openxmlformats.org/drawingml/2006/main" noGrp="1"/>
          </p:cNvSpPr>
          <p:nvPr/>
        </p:nvSpPr>
        <p:spPr>
          <a:xfrm xmlns:a="http://schemas.openxmlformats.org/drawingml/2006/main">
            <a:off x="5838825" y="321945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86861"/>
                </a:solidFill>
                <a:latin typeface="Arial"/>
                <a:ea typeface="Arial"/>
                <a:cs typeface="Arial"/>
              </a:defRPr>
            </a:defPPr>
          </a:lstStyle>
          <a:p xmlns:a="http://schemas.openxmlformats.org/drawingml/2006/main">
            <a:pPr algn="l">
              <a:defRPr sz="1275" b="0">
                <a:solidFill>
                  <a:srgbClr val="586861"/>
                </a:solidFill>
                <a:latin typeface="Arial"/>
                <a:ea typeface="Arial"/>
                <a:cs typeface="Arial"/>
              </a:defRPr>
            </a:pPr>
            <a:r>
              <a:rPr sz="1275" b="0">
                <a:solidFill>
                  <a:srgbClr val="586861"/>
                </a:solidFill>
                <a:latin typeface="Arial"/>
                <a:ea typeface="Arial"/>
                <a:cs typeface="Arial"/>
              </a:rPr>
              <a:t>Work orders  •  workers  •  equipment</a:t>
            </a:r>
          </a:p>
        </p:txBody>
      </p:sp>
      <p:sp>
        <p:nvSpPr>
          <p:cNvPr id="22" name="">
            <a:extLst xmlns:a="http://schemas.openxmlformats.org/drawingml/2006/main">
              <a:ext uri="{FF2B5EF4-FFF2-40B4-BE49-F238E27FC236}">
                <a16:creationId xmlns:a16="http://schemas.microsoft.com/office/drawing/2014/main" id="{17BB01A6-AF51-448C-9CB4-4191D255244A}"/>
              </a:ext>
            </a:extLst>
          </p:cNvPr>
          <p:cNvSpPr>
            <a:spLocks xmlns:a="http://schemas.openxmlformats.org/drawingml/2006/main" noGrp="1"/>
          </p:cNvSpPr>
          <p:nvPr/>
        </p:nvSpPr>
        <p:spPr>
          <a:xfrm xmlns:a="http://schemas.openxmlformats.org/drawingml/2006/main">
            <a:off x="5838825" y="3648075"/>
            <a:ext cx="5086350" cy="9525"/>
          </a:xfrm>
          <a:prstGeom xmlns:a="http://schemas.openxmlformats.org/drawingml/2006/main" prst="rect">
            <a:avLst/>
          </a:prstGeom>
          <a:solidFill xmlns:a="http://schemas.openxmlformats.org/drawingml/2006/main">
            <a:srgbClr val="CDD9D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75E48A7-01DD-49F3-B20F-D96ED4315067}"/>
              </a:ext>
            </a:extLst>
          </p:cNvPr>
          <p:cNvSpPr>
            <a:spLocks xmlns:a="http://schemas.openxmlformats.org/drawingml/2006/main" noGrp="1"/>
          </p:cNvSpPr>
          <p:nvPr/>
        </p:nvSpPr>
        <p:spPr>
          <a:xfrm xmlns:a="http://schemas.openxmlformats.org/drawingml/2006/main">
            <a:off x="5838825" y="3819525"/>
            <a:ext cx="4667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5231F"/>
                </a:solidFill>
                <a:latin typeface="Arial"/>
                <a:ea typeface="Arial"/>
                <a:cs typeface="Arial"/>
              </a:defRPr>
            </a:defPPr>
          </a:lstStyle>
          <a:p xmlns:a="http://schemas.openxmlformats.org/drawingml/2006/main">
            <a:pPr algn="l">
              <a:defRPr sz="1650" b="1">
                <a:solidFill>
                  <a:srgbClr val="15231F"/>
                </a:solidFill>
                <a:latin typeface="Arial"/>
                <a:ea typeface="Arial"/>
                <a:cs typeface="Arial"/>
              </a:defRPr>
            </a:pPr>
            <a:r>
              <a:rPr sz="1650" b="1">
                <a:solidFill>
                  <a:srgbClr val="15231F"/>
                </a:solidFill>
                <a:latin typeface="Arial"/>
                <a:ea typeface="Arial"/>
                <a:cs typeface="Arial"/>
              </a:rPr>
              <a:t>Immutable baseline snapshot</a:t>
            </a:r>
          </a:p>
        </p:txBody>
      </p:sp>
      <p:sp>
        <p:nvSpPr>
          <p:cNvPr id="24" name="">
            <a:extLst xmlns:a="http://schemas.openxmlformats.org/drawingml/2006/main">
              <a:ext uri="{FF2B5EF4-FFF2-40B4-BE49-F238E27FC236}">
                <a16:creationId xmlns:a16="http://schemas.microsoft.com/office/drawing/2014/main" id="{C160C3E0-8ACA-41B5-8AAB-2855E177719A}"/>
              </a:ext>
            </a:extLst>
          </p:cNvPr>
          <p:cNvSpPr>
            <a:spLocks xmlns:a="http://schemas.openxmlformats.org/drawingml/2006/main" noGrp="1"/>
          </p:cNvSpPr>
          <p:nvPr/>
        </p:nvSpPr>
        <p:spPr>
          <a:xfrm xmlns:a="http://schemas.openxmlformats.org/drawingml/2006/main">
            <a:off x="5838825" y="41910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86861"/>
                </a:solidFill>
                <a:latin typeface="Arial"/>
                <a:ea typeface="Arial"/>
                <a:cs typeface="Arial"/>
              </a:defRPr>
            </a:defPPr>
          </a:lstStyle>
          <a:p xmlns:a="http://schemas.openxmlformats.org/drawingml/2006/main">
            <a:pPr algn="l">
              <a:defRPr sz="1200" b="0">
                <a:solidFill>
                  <a:srgbClr val="586861"/>
                </a:solidFill>
                <a:latin typeface="Arial"/>
                <a:ea typeface="Arial"/>
                <a:cs typeface="Arial"/>
              </a:defRPr>
            </a:pPr>
            <a:r>
              <a:rPr sz="1200" b="0">
                <a:solidFill>
                  <a:srgbClr val="586861"/>
                </a:solidFill>
                <a:latin typeface="Arial"/>
                <a:ea typeface="Arial"/>
                <a:cs typeface="Arial"/>
              </a:rPr>
              <a:t>Assignments  •  windows  •  allocations  •  metrics v1</a:t>
            </a:r>
          </a:p>
        </p:txBody>
      </p:sp>
      <p:sp>
        <p:nvSpPr>
          <p:cNvPr id="25" name="">
            <a:extLst xmlns:a="http://schemas.openxmlformats.org/drawingml/2006/main">
              <a:ext uri="{FF2B5EF4-FFF2-40B4-BE49-F238E27FC236}">
                <a16:creationId xmlns:a16="http://schemas.microsoft.com/office/drawing/2014/main" id="{0081EFE2-F470-4F36-879B-457663A0077F}"/>
              </a:ext>
            </a:extLst>
          </p:cNvPr>
          <p:cNvSpPr>
            <a:spLocks xmlns:a="http://schemas.openxmlformats.org/drawingml/2006/main" noGrp="1"/>
          </p:cNvSpPr>
          <p:nvPr/>
        </p:nvSpPr>
        <p:spPr>
          <a:xfrm xmlns:a="http://schemas.openxmlformats.org/drawingml/2006/main">
            <a:off x="5838825" y="4572000"/>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76B55"/>
                </a:solidFill>
                <a:latin typeface="Arial"/>
                <a:ea typeface="Arial"/>
                <a:cs typeface="Arial"/>
              </a:defRPr>
            </a:defPPr>
          </a:lstStyle>
          <a:p xmlns:a="http://schemas.openxmlformats.org/drawingml/2006/main">
            <a:pPr algn="l">
              <a:defRPr sz="1200" b="1">
                <a:solidFill>
                  <a:srgbClr val="176B55"/>
                </a:solidFill>
                <a:latin typeface="Arial"/>
                <a:ea typeface="Arial"/>
                <a:cs typeface="Arial"/>
              </a:defRPr>
            </a:pPr>
            <a:r>
              <a:rPr sz="1200" b="1">
                <a:solidFill>
                  <a:srgbClr val="176B55"/>
                </a:solidFill>
                <a:latin typeface="Arial"/>
                <a:ea typeface="Arial"/>
                <a:cs typeface="Arial"/>
              </a:rPr>
              <a:t>The same dataset and evaluator can be reused when evaluating a future proposal.</a:t>
            </a:r>
          </a:p>
        </p:txBody>
      </p:sp>
    </p:spTree>
    <p:extLst>
      <p:ext uri="{BB962C8B-B14F-4D97-AF65-F5344CB8AC3E}">
        <p14:creationId xmlns:p14="http://schemas.microsoft.com/office/powerpoint/2010/main" val="63787750"/>
      </p:ext>
    </p:extLst>
  </p:cSld>
</p:sld>
</file>

<file path=ppt/slides/slide6.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ACDC53B-0987-4B02-8662-4EC0D7E6EEBB}"/>
              </a:ext>
            </a:extLst>
          </p:cNvPr>
          <p:cNvSpPr>
            <a:spLocks xmlns:a="http://schemas.openxmlformats.org/drawingml/2006/main" noGrp="1"/>
          </p:cNvSpPr>
          <p:nvPr/>
        </p:nvSpPr>
        <p:spPr>
          <a:xfrm xmlns:a="http://schemas.openxmlformats.org/drawingml/2006/main">
            <a:off x="647700" y="3619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DELIVERY BOUNDARY</a:t>
            </a:r>
          </a:p>
        </p:txBody>
      </p:sp>
      <p:sp>
        <p:nvSpPr>
          <p:cNvPr id="2" name="">
            <a:extLst xmlns:a="http://schemas.openxmlformats.org/drawingml/2006/main">
              <a:ext uri="{FF2B5EF4-FFF2-40B4-BE49-F238E27FC236}">
                <a16:creationId xmlns:a16="http://schemas.microsoft.com/office/drawing/2014/main" id="{6029EBBD-FDD8-44CD-8416-FE3109A2625B}"/>
              </a:ext>
            </a:extLst>
          </p:cNvPr>
          <p:cNvSpPr>
            <a:spLocks xmlns:a="http://schemas.openxmlformats.org/drawingml/2006/main" noGrp="1"/>
          </p:cNvSpPr>
          <p:nvPr/>
        </p:nvSpPr>
        <p:spPr>
          <a:xfrm xmlns:a="http://schemas.openxmlformats.org/drawingml/2006/main">
            <a:off x="647700" y="666750"/>
            <a:ext cx="10715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450" b="1">
                <a:solidFill>
                  <a:srgbClr val="15231F"/>
                </a:solidFill>
                <a:latin typeface="Arial"/>
                <a:ea typeface="Arial"/>
                <a:cs typeface="Arial"/>
              </a:defRPr>
            </a:defPPr>
          </a:lstStyle>
          <a:p xmlns:a="http://schemas.openxmlformats.org/drawingml/2006/main">
            <a:pPr algn="l">
              <a:defRPr sz="3450" b="1">
                <a:solidFill>
                  <a:srgbClr val="15231F"/>
                </a:solidFill>
                <a:latin typeface="Arial"/>
                <a:ea typeface="Arial"/>
                <a:cs typeface="Arial"/>
              </a:defRPr>
            </a:pPr>
            <a:r>
              <a:rPr sz="3450" b="1">
                <a:solidFill>
                  <a:srgbClr val="15231F"/>
                </a:solidFill>
                <a:latin typeface="Arial"/>
                <a:ea typeface="Arial"/>
                <a:cs typeface="Arial"/>
              </a:rPr>
              <a:t>What this ticket establishes</a:t>
            </a:r>
          </a:p>
        </p:txBody>
      </p:sp>
      <p:sp>
        <p:nvSpPr>
          <p:cNvPr id="3" name="">
            <a:extLst xmlns:a="http://schemas.openxmlformats.org/drawingml/2006/main">
              <a:ext uri="{FF2B5EF4-FFF2-40B4-BE49-F238E27FC236}">
                <a16:creationId xmlns:a16="http://schemas.microsoft.com/office/drawing/2014/main" id="{B191D6D9-8698-4DD8-8055-0399DB97B00A}"/>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C3DFED6-E539-4D08-B679-E4B2026C4380}"/>
              </a:ext>
            </a:extLst>
          </p:cNvPr>
          <p:cNvSpPr>
            <a:spLocks xmlns:a="http://schemas.openxmlformats.org/drawingml/2006/main" noGrp="1"/>
          </p:cNvSpPr>
          <p:nvPr/>
        </p:nvSpPr>
        <p:spPr>
          <a:xfrm xmlns:a="http://schemas.openxmlformats.org/drawingml/2006/main">
            <a:off x="647700" y="63341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CLIMATE-RESILIENT WORKFORCE PLANNING</a:t>
            </a:r>
          </a:p>
        </p:txBody>
      </p:sp>
      <p:sp>
        <p:nvSpPr>
          <p:cNvPr id="5" name="">
            <a:extLst xmlns:a="http://schemas.openxmlformats.org/drawingml/2006/main">
              <a:ext uri="{FF2B5EF4-FFF2-40B4-BE49-F238E27FC236}">
                <a16:creationId xmlns:a16="http://schemas.microsoft.com/office/drawing/2014/main" id="{C1D634BA-E981-44A1-A91F-6FD4F81FDE4B}"/>
              </a:ext>
            </a:extLst>
          </p:cNvPr>
          <p:cNvSpPr>
            <a:spLocks xmlns:a="http://schemas.openxmlformats.org/drawingml/2006/main" noGrp="1"/>
          </p:cNvSpPr>
          <p:nvPr/>
        </p:nvSpPr>
        <p:spPr>
          <a:xfrm xmlns:a="http://schemas.openxmlformats.org/drawingml/2006/main">
            <a:off x="11096625" y="62865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86861"/>
                </a:solidFill>
                <a:latin typeface="Arial"/>
                <a:ea typeface="Arial"/>
                <a:cs typeface="Arial"/>
              </a:defRPr>
            </a:defPPr>
          </a:lstStyle>
          <a:p xmlns:a="http://schemas.openxmlformats.org/drawingml/2006/main">
            <a:pPr algn="r">
              <a:defRPr sz="1050" b="1">
                <a:solidFill>
                  <a:srgbClr val="586861"/>
                </a:solidFill>
                <a:latin typeface="Arial"/>
                <a:ea typeface="Arial"/>
                <a:cs typeface="Arial"/>
              </a:defRPr>
            </a:pPr>
            <a:r>
              <a:rPr sz="1050" b="1">
                <a:solidFill>
                  <a:srgbClr val="586861"/>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3C9D2818-EA08-471C-B7F7-E49297EA11A2}"/>
              </a:ext>
            </a:extLst>
          </p:cNvPr>
          <p:cNvSpPr>
            <a:spLocks xmlns:a="http://schemas.openxmlformats.org/drawingml/2006/main" noGrp="1"/>
          </p:cNvSpPr>
          <p:nvPr/>
        </p:nvSpPr>
        <p:spPr>
          <a:xfrm xmlns:a="http://schemas.openxmlformats.org/drawingml/2006/main">
            <a:off x="800100" y="1714500"/>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IN THE BASELINE CAPTURE</a:t>
            </a:r>
          </a:p>
        </p:txBody>
      </p:sp>
      <p:sp>
        <p:nvSpPr>
          <p:cNvPr id="7" name="">
            <a:extLst xmlns:a="http://schemas.openxmlformats.org/drawingml/2006/main">
              <a:ext uri="{FF2B5EF4-FFF2-40B4-BE49-F238E27FC236}">
                <a16:creationId xmlns:a16="http://schemas.microsoft.com/office/drawing/2014/main" id="{5C5AE272-B98E-4470-BCC7-5D310B5CF004}"/>
              </a:ext>
            </a:extLst>
          </p:cNvPr>
          <p:cNvSpPr>
            <a:spLocks xmlns:a="http://schemas.openxmlformats.org/drawingml/2006/main" noGrp="1"/>
          </p:cNvSpPr>
          <p:nvPr/>
        </p:nvSpPr>
        <p:spPr>
          <a:xfrm xmlns:a="http://schemas.openxmlformats.org/drawingml/2006/main">
            <a:off x="800100" y="2247900"/>
            <a:ext cx="95250" cy="95250"/>
          </a:xfrm>
          <a:prstGeom xmlns:a="http://schemas.openxmlformats.org/drawingml/2006/main" prst="roundRect">
            <a:avLst>
              <a:gd name="adj" fmla="val 50000"/>
            </a:avLst>
          </a:prstGeom>
          <a:solidFill xmlns:a="http://schemas.openxmlformats.org/drawingml/2006/main">
            <a:srgbClr val="176B5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3843D24-DC76-4E5B-B578-8A04E1405581}"/>
              </a:ext>
            </a:extLst>
          </p:cNvPr>
          <p:cNvSpPr>
            <a:spLocks xmlns:a="http://schemas.openxmlformats.org/drawingml/2006/main" noGrp="1"/>
          </p:cNvSpPr>
          <p:nvPr/>
        </p:nvSpPr>
        <p:spPr>
          <a:xfrm xmlns:a="http://schemas.openxmlformats.org/drawingml/2006/main">
            <a:off x="1028700" y="215265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Original task assignments and time windows</a:t>
            </a:r>
          </a:p>
        </p:txBody>
      </p:sp>
      <p:sp>
        <p:nvSpPr>
          <p:cNvPr id="9" name="">
            <a:extLst xmlns:a="http://schemas.openxmlformats.org/drawingml/2006/main">
              <a:ext uri="{FF2B5EF4-FFF2-40B4-BE49-F238E27FC236}">
                <a16:creationId xmlns:a16="http://schemas.microsoft.com/office/drawing/2014/main" id="{E7D070DC-135E-4370-B508-0779BEC492F1}"/>
              </a:ext>
            </a:extLst>
          </p:cNvPr>
          <p:cNvSpPr>
            <a:spLocks xmlns:a="http://schemas.openxmlformats.org/drawingml/2006/main" noGrp="1"/>
          </p:cNvSpPr>
          <p:nvPr/>
        </p:nvSpPr>
        <p:spPr>
          <a:xfrm xmlns:a="http://schemas.openxmlformats.org/drawingml/2006/main">
            <a:off x="800100" y="2876550"/>
            <a:ext cx="95250" cy="95250"/>
          </a:xfrm>
          <a:prstGeom xmlns:a="http://schemas.openxmlformats.org/drawingml/2006/main" prst="roundRect">
            <a:avLst>
              <a:gd name="adj" fmla="val 50000"/>
            </a:avLst>
          </a:prstGeom>
          <a:solidFill xmlns:a="http://schemas.openxmlformats.org/drawingml/2006/main">
            <a:srgbClr val="176B5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6233E79-916B-470E-B6ED-9BBD62ECB574}"/>
              </a:ext>
            </a:extLst>
          </p:cNvPr>
          <p:cNvSpPr>
            <a:spLocks xmlns:a="http://schemas.openxmlformats.org/drawingml/2006/main" noGrp="1"/>
          </p:cNvSpPr>
          <p:nvPr/>
        </p:nvSpPr>
        <p:spPr>
          <a:xfrm xmlns:a="http://schemas.openxmlformats.org/drawingml/2006/main">
            <a:off x="1028700" y="278130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Worker and equipment allocations</a:t>
            </a:r>
          </a:p>
        </p:txBody>
      </p:sp>
      <p:sp>
        <p:nvSpPr>
          <p:cNvPr id="11" name="">
            <a:extLst xmlns:a="http://schemas.openxmlformats.org/drawingml/2006/main">
              <a:ext uri="{FF2B5EF4-FFF2-40B4-BE49-F238E27FC236}">
                <a16:creationId xmlns:a16="http://schemas.microsoft.com/office/drawing/2014/main" id="{C3DB7C13-4972-482F-A182-0734D037ED41}"/>
              </a:ext>
            </a:extLst>
          </p:cNvPr>
          <p:cNvSpPr>
            <a:spLocks xmlns:a="http://schemas.openxmlformats.org/drawingml/2006/main" noGrp="1"/>
          </p:cNvSpPr>
          <p:nvPr/>
        </p:nvSpPr>
        <p:spPr>
          <a:xfrm xmlns:a="http://schemas.openxmlformats.org/drawingml/2006/main">
            <a:off x="800100" y="3505200"/>
            <a:ext cx="95250" cy="95250"/>
          </a:xfrm>
          <a:prstGeom xmlns:a="http://schemas.openxmlformats.org/drawingml/2006/main" prst="roundRect">
            <a:avLst>
              <a:gd name="adj" fmla="val 50000"/>
            </a:avLst>
          </a:prstGeom>
          <a:solidFill xmlns:a="http://schemas.openxmlformats.org/drawingml/2006/main">
            <a:srgbClr val="176B5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90697AD-7F47-4E10-854F-D7E3622AA430}"/>
              </a:ext>
            </a:extLst>
          </p:cNvPr>
          <p:cNvSpPr>
            <a:spLocks xmlns:a="http://schemas.openxmlformats.org/drawingml/2006/main" noGrp="1"/>
          </p:cNvSpPr>
          <p:nvPr/>
        </p:nvSpPr>
        <p:spPr>
          <a:xfrm xmlns:a="http://schemas.openxmlformats.org/drawingml/2006/main">
            <a:off x="1028700" y="340995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Input dataset stored with the run</a:t>
            </a:r>
          </a:p>
        </p:txBody>
      </p:sp>
      <p:sp>
        <p:nvSpPr>
          <p:cNvPr id="13" name="">
            <a:extLst xmlns:a="http://schemas.openxmlformats.org/drawingml/2006/main">
              <a:ext uri="{FF2B5EF4-FFF2-40B4-BE49-F238E27FC236}">
                <a16:creationId xmlns:a16="http://schemas.microsoft.com/office/drawing/2014/main" id="{B722AA02-5037-4644-9A02-B136AB019BE3}"/>
              </a:ext>
            </a:extLst>
          </p:cNvPr>
          <p:cNvSpPr>
            <a:spLocks xmlns:a="http://schemas.openxmlformats.org/drawingml/2006/main" noGrp="1"/>
          </p:cNvSpPr>
          <p:nvPr/>
        </p:nvSpPr>
        <p:spPr>
          <a:xfrm xmlns:a="http://schemas.openxmlformats.org/drawingml/2006/main">
            <a:off x="800100" y="4133850"/>
            <a:ext cx="95250" cy="95250"/>
          </a:xfrm>
          <a:prstGeom xmlns:a="http://schemas.openxmlformats.org/drawingml/2006/main" prst="roundRect">
            <a:avLst>
              <a:gd name="adj" fmla="val 50000"/>
            </a:avLst>
          </a:prstGeom>
          <a:solidFill xmlns:a="http://schemas.openxmlformats.org/drawingml/2006/main">
            <a:srgbClr val="176B5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B38F3B3-C0F6-4CA2-B843-1AA2099A991D}"/>
              </a:ext>
            </a:extLst>
          </p:cNvPr>
          <p:cNvSpPr>
            <a:spLocks xmlns:a="http://schemas.openxmlformats.org/drawingml/2006/main" noGrp="1"/>
          </p:cNvSpPr>
          <p:nvPr/>
        </p:nvSpPr>
        <p:spPr>
          <a:xfrm xmlns:a="http://schemas.openxmlformats.org/drawingml/2006/main">
            <a:off x="1028700" y="403860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Versioned metrics and immutable snapshot</a:t>
            </a:r>
          </a:p>
        </p:txBody>
      </p:sp>
      <p:sp>
        <p:nvSpPr>
          <p:cNvPr id="15" name="">
            <a:extLst xmlns:a="http://schemas.openxmlformats.org/drawingml/2006/main">
              <a:ext uri="{FF2B5EF4-FFF2-40B4-BE49-F238E27FC236}">
                <a16:creationId xmlns:a16="http://schemas.microsoft.com/office/drawing/2014/main" id="{FF7E7418-80E3-4EB1-B82B-FD2C0A76F50E}"/>
              </a:ext>
            </a:extLst>
          </p:cNvPr>
          <p:cNvSpPr>
            <a:spLocks xmlns:a="http://schemas.openxmlformats.org/drawingml/2006/main" noGrp="1"/>
          </p:cNvSpPr>
          <p:nvPr/>
        </p:nvSpPr>
        <p:spPr>
          <a:xfrm xmlns:a="http://schemas.openxmlformats.org/drawingml/2006/main">
            <a:off x="5905500" y="1762125"/>
            <a:ext cx="9525" cy="3714750"/>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DB49FAB-0586-4E07-B27D-357838BF132C}"/>
              </a:ext>
            </a:extLst>
          </p:cNvPr>
          <p:cNvSpPr>
            <a:spLocks xmlns:a="http://schemas.openxmlformats.org/drawingml/2006/main" noGrp="1"/>
          </p:cNvSpPr>
          <p:nvPr/>
        </p:nvSpPr>
        <p:spPr>
          <a:xfrm xmlns:a="http://schemas.openxmlformats.org/drawingml/2006/main">
            <a:off x="6362700" y="1714500"/>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D7912B"/>
                </a:solidFill>
                <a:latin typeface="Arial"/>
                <a:ea typeface="Arial"/>
                <a:cs typeface="Arial"/>
              </a:defRPr>
            </a:defPPr>
          </a:lstStyle>
          <a:p xmlns:a="http://schemas.openxmlformats.org/drawingml/2006/main">
            <a:pPr algn="l">
              <a:defRPr sz="1050" b="1">
                <a:solidFill>
                  <a:srgbClr val="D7912B"/>
                </a:solidFill>
                <a:latin typeface="Arial"/>
                <a:ea typeface="Arial"/>
                <a:cs typeface="Arial"/>
              </a:defRPr>
            </a:pPr>
            <a:r>
              <a:rPr sz="1050" b="1">
                <a:solidFill>
                  <a:srgbClr val="D7912B"/>
                </a:solidFill>
                <a:latin typeface="Arial"/>
                <a:ea typeface="Arial"/>
                <a:cs typeface="Arial"/>
              </a:rPr>
              <a:t>NEXT PRODUCT WORK</a:t>
            </a:r>
          </a:p>
        </p:txBody>
      </p:sp>
      <p:sp>
        <p:nvSpPr>
          <p:cNvPr id="17" name="">
            <a:extLst xmlns:a="http://schemas.openxmlformats.org/drawingml/2006/main">
              <a:ext uri="{FF2B5EF4-FFF2-40B4-BE49-F238E27FC236}">
                <a16:creationId xmlns:a16="http://schemas.microsoft.com/office/drawing/2014/main" id="{9F79541E-653F-40D8-9302-DB617F64463D}"/>
              </a:ext>
            </a:extLst>
          </p:cNvPr>
          <p:cNvSpPr>
            <a:spLocks xmlns:a="http://schemas.openxmlformats.org/drawingml/2006/main" noGrp="1"/>
          </p:cNvSpPr>
          <p:nvPr/>
        </p:nvSpPr>
        <p:spPr>
          <a:xfrm xmlns:a="http://schemas.openxmlformats.org/drawingml/2006/main">
            <a:off x="6362700" y="2247900"/>
            <a:ext cx="95250" cy="95250"/>
          </a:xfrm>
          <a:prstGeom xmlns:a="http://schemas.openxmlformats.org/drawingml/2006/main" prst="roundRect">
            <a:avLst>
              <a:gd name="adj" fmla="val 50000"/>
            </a:avLst>
          </a:prstGeom>
          <a:solidFill xmlns:a="http://schemas.openxmlformats.org/drawingml/2006/main">
            <a:srgbClr val="D7912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9D41A4E-9540-48C5-B2B8-C2F56BDF77EA}"/>
              </a:ext>
            </a:extLst>
          </p:cNvPr>
          <p:cNvSpPr>
            <a:spLocks xmlns:a="http://schemas.openxmlformats.org/drawingml/2006/main" noGrp="1"/>
          </p:cNvSpPr>
          <p:nvPr/>
        </p:nvSpPr>
        <p:spPr>
          <a:xfrm xmlns:a="http://schemas.openxmlformats.org/drawingml/2006/main">
            <a:off x="6591300" y="215265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Manager and employee schedule screens</a:t>
            </a:r>
          </a:p>
        </p:txBody>
      </p:sp>
      <p:sp>
        <p:nvSpPr>
          <p:cNvPr id="19" name="">
            <a:extLst xmlns:a="http://schemas.openxmlformats.org/drawingml/2006/main">
              <a:ext uri="{FF2B5EF4-FFF2-40B4-BE49-F238E27FC236}">
                <a16:creationId xmlns:a16="http://schemas.microsoft.com/office/drawing/2014/main" id="{1D13A896-506F-430D-8C2A-5DB1A9CF50B3}"/>
              </a:ext>
            </a:extLst>
          </p:cNvPr>
          <p:cNvSpPr>
            <a:spLocks xmlns:a="http://schemas.openxmlformats.org/drawingml/2006/main" noGrp="1"/>
          </p:cNvSpPr>
          <p:nvPr/>
        </p:nvSpPr>
        <p:spPr>
          <a:xfrm xmlns:a="http://schemas.openxmlformats.org/drawingml/2006/main">
            <a:off x="6362700" y="2876550"/>
            <a:ext cx="95250" cy="95250"/>
          </a:xfrm>
          <a:prstGeom xmlns:a="http://schemas.openxmlformats.org/drawingml/2006/main" prst="roundRect">
            <a:avLst>
              <a:gd name="adj" fmla="val 50000"/>
            </a:avLst>
          </a:prstGeom>
          <a:solidFill xmlns:a="http://schemas.openxmlformats.org/drawingml/2006/main">
            <a:srgbClr val="D7912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5421A09-C7A2-4C85-82EC-239E6E9645C7}"/>
              </a:ext>
            </a:extLst>
          </p:cNvPr>
          <p:cNvSpPr>
            <a:spLocks xmlns:a="http://schemas.openxmlformats.org/drawingml/2006/main" noGrp="1"/>
          </p:cNvSpPr>
          <p:nvPr/>
        </p:nvSpPr>
        <p:spPr>
          <a:xfrm xmlns:a="http://schemas.openxmlformats.org/drawingml/2006/main">
            <a:off x="6591300" y="278130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Schedule generation and publishing</a:t>
            </a:r>
          </a:p>
        </p:txBody>
      </p:sp>
      <p:sp>
        <p:nvSpPr>
          <p:cNvPr id="21" name="">
            <a:extLst xmlns:a="http://schemas.openxmlformats.org/drawingml/2006/main">
              <a:ext uri="{FF2B5EF4-FFF2-40B4-BE49-F238E27FC236}">
                <a16:creationId xmlns:a16="http://schemas.microsoft.com/office/drawing/2014/main" id="{20BA43AA-1D00-4629-AA96-C68556EED33E}"/>
              </a:ext>
            </a:extLst>
          </p:cNvPr>
          <p:cNvSpPr>
            <a:spLocks xmlns:a="http://schemas.openxmlformats.org/drawingml/2006/main" noGrp="1"/>
          </p:cNvSpPr>
          <p:nvPr/>
        </p:nvSpPr>
        <p:spPr>
          <a:xfrm xmlns:a="http://schemas.openxmlformats.org/drawingml/2006/main">
            <a:off x="6362700" y="3505200"/>
            <a:ext cx="95250" cy="95250"/>
          </a:xfrm>
          <a:prstGeom xmlns:a="http://schemas.openxmlformats.org/drawingml/2006/main" prst="roundRect">
            <a:avLst>
              <a:gd name="adj" fmla="val 50000"/>
            </a:avLst>
          </a:prstGeom>
          <a:solidFill xmlns:a="http://schemas.openxmlformats.org/drawingml/2006/main">
            <a:srgbClr val="D7912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D4E49D0-FA6B-41B6-96F9-48471DA35AEB}"/>
              </a:ext>
            </a:extLst>
          </p:cNvPr>
          <p:cNvSpPr>
            <a:spLocks xmlns:a="http://schemas.openxmlformats.org/drawingml/2006/main" noGrp="1"/>
          </p:cNvSpPr>
          <p:nvPr/>
        </p:nvSpPr>
        <p:spPr>
          <a:xfrm xmlns:a="http://schemas.openxmlformats.org/drawingml/2006/main">
            <a:off x="6591300" y="340995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Before/after comparisons or recommendations</a:t>
            </a:r>
          </a:p>
        </p:txBody>
      </p:sp>
      <p:sp>
        <p:nvSpPr>
          <p:cNvPr id="23" name="">
            <a:extLst xmlns:a="http://schemas.openxmlformats.org/drawingml/2006/main">
              <a:ext uri="{FF2B5EF4-FFF2-40B4-BE49-F238E27FC236}">
                <a16:creationId xmlns:a16="http://schemas.microsoft.com/office/drawing/2014/main" id="{C7EF129F-E78A-4D65-8A1B-474A117DAC2B}"/>
              </a:ext>
            </a:extLst>
          </p:cNvPr>
          <p:cNvSpPr>
            <a:spLocks xmlns:a="http://schemas.openxmlformats.org/drawingml/2006/main" noGrp="1"/>
          </p:cNvSpPr>
          <p:nvPr/>
        </p:nvSpPr>
        <p:spPr>
          <a:xfrm xmlns:a="http://schemas.openxmlformats.org/drawingml/2006/main">
            <a:off x="6362700" y="4133850"/>
            <a:ext cx="95250" cy="95250"/>
          </a:xfrm>
          <a:prstGeom xmlns:a="http://schemas.openxmlformats.org/drawingml/2006/main" prst="roundRect">
            <a:avLst>
              <a:gd name="adj" fmla="val 50000"/>
            </a:avLst>
          </a:prstGeom>
          <a:solidFill xmlns:a="http://schemas.openxmlformats.org/drawingml/2006/main">
            <a:srgbClr val="D7912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C7E0594-DD92-43EF-9D7B-0299BE7CC41B}"/>
              </a:ext>
            </a:extLst>
          </p:cNvPr>
          <p:cNvSpPr>
            <a:spLocks xmlns:a="http://schemas.openxmlformats.org/drawingml/2006/main" noGrp="1"/>
          </p:cNvSpPr>
          <p:nvPr/>
        </p:nvSpPr>
        <p:spPr>
          <a:xfrm xmlns:a="http://schemas.openxmlformats.org/drawingml/2006/main">
            <a:off x="6591300" y="403860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Role-based access and employee notifications</a:t>
            </a:r>
          </a:p>
        </p:txBody>
      </p:sp>
      <p:sp>
        <p:nvSpPr>
          <p:cNvPr id="25" name="">
            <a:extLst xmlns:a="http://schemas.openxmlformats.org/drawingml/2006/main">
              <a:ext uri="{FF2B5EF4-FFF2-40B4-BE49-F238E27FC236}">
                <a16:creationId xmlns:a16="http://schemas.microsoft.com/office/drawing/2014/main" id="{FCED9360-FD3E-47AC-B7DC-20FCC759287A}"/>
              </a:ext>
            </a:extLst>
          </p:cNvPr>
          <p:cNvSpPr>
            <a:spLocks xmlns:a="http://schemas.openxmlformats.org/drawingml/2006/main" noGrp="1"/>
          </p:cNvSpPr>
          <p:nvPr/>
        </p:nvSpPr>
        <p:spPr>
          <a:xfrm xmlns:a="http://schemas.openxmlformats.org/drawingml/2006/main">
            <a:off x="800100" y="5029200"/>
            <a:ext cx="10382250" cy="590550"/>
          </a:xfrm>
          <a:prstGeom xmlns:a="http://schemas.openxmlformats.org/drawingml/2006/main" prst="roundRect">
            <a:avLst>
              <a:gd name="adj" fmla="val 14516"/>
            </a:avLst>
          </a:prstGeom>
          <a:solidFill xmlns:a="http://schemas.openxmlformats.org/drawingml/2006/main">
            <a:srgbClr val="17342C"/>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A4C561A-D892-4914-B176-51EA7490733E}"/>
              </a:ext>
            </a:extLst>
          </p:cNvPr>
          <p:cNvSpPr>
            <a:spLocks xmlns:a="http://schemas.openxmlformats.org/drawingml/2006/main" noGrp="1"/>
          </p:cNvSpPr>
          <p:nvPr/>
        </p:nvSpPr>
        <p:spPr>
          <a:xfrm xmlns:a="http://schemas.openxmlformats.org/drawingml/2006/main">
            <a:off x="1009650" y="5153025"/>
            <a:ext cx="990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rial"/>
                <a:ea typeface="Arial"/>
                <a:cs typeface="Arial"/>
              </a:defRPr>
            </a:defPPr>
          </a:lstStyle>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Current app: shared operations shell + Safety &amp; Scheduling page</a:t>
            </a:r>
          </a:p>
        </p:txBody>
      </p:sp>
    </p:spTree>
    <p:extLst>
      <p:ext uri="{BB962C8B-B14F-4D97-AF65-F5344CB8AC3E}">
        <p14:creationId xmlns:p14="http://schemas.microsoft.com/office/powerpoint/2010/main" val="10778917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2026-10-14T19:38:15.4280000Z</dcterms:created>
  <dcterms:modified xsi:type="dcterms:W3CDTF">2026-10-14T19:38:15.4280000Z</dcterms:modified>
</coreProperties>
</file>